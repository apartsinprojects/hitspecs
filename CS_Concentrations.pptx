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1714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0"/>
            <a:ext cx="146304" cy="1714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429000"/>
            <a:ext cx="146304" cy="1714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0"/>
            <a:ext cx="146304" cy="17145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UNDERGRADUATE CS PROGRAM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7830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 Concentrations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specialization tracks students choose in their third year — each a focused path of core and advanced courses built on a shared CS backbone.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5875">
            <a:solidFill>
              <a:srgbClr val="2563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562856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24128" y="5074920"/>
            <a:ext cx="45720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9"/>
          <p:cNvSpPr/>
          <p:nvPr/>
        </p:nvSpPr>
        <p:spPr>
          <a:xfrm>
            <a:off x="987552" y="5148072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593592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4562856"/>
            <a:ext cx="384048" cy="38404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794760" y="5074920"/>
            <a:ext cx="457200" cy="411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2"/>
          <p:cNvSpPr/>
          <p:nvPr/>
        </p:nvSpPr>
        <p:spPr>
          <a:xfrm>
            <a:off x="3758184" y="5148072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Cyber Security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364224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562856"/>
            <a:ext cx="384048" cy="3840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65392" y="5074920"/>
            <a:ext cx="45720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5"/>
          <p:cNvSpPr/>
          <p:nvPr/>
        </p:nvSpPr>
        <p:spPr>
          <a:xfrm>
            <a:off x="6528816" y="5148072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134856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5875">
            <a:solidFill>
              <a:srgbClr val="D9770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4562856"/>
            <a:ext cx="384048" cy="38404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336024" y="5074920"/>
            <a:ext cx="457200" cy="411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18"/>
          <p:cNvSpPr/>
          <p:nvPr/>
        </p:nvSpPr>
        <p:spPr>
          <a:xfrm>
            <a:off x="9299448" y="5148072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Finance, Optimization &amp; Quantum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CS Program Plan  ·  Third-Year Specialization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Concentrations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shares a common CS foundation, then specializes by completing one concentration: four core courses plus four advanced courses, rounded out with electives drawn from the shared catalog.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414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231343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50976" y="317296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tracks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453128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44144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7528" y="231343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4745736" y="317296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courses each (4 core + 4 advanced)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47888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414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62288" y="231343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8540496" y="317296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in the shared catalog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58368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PATH THROUGH THE DEGREE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8368" y="4754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59536" y="4956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A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1–2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59536" y="5358384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CS core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5321808"/>
            <a:ext cx="237744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557016" y="4754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758184" y="4956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758184" y="5358384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 concentration</a:t>
            </a:r>
            <a:endParaRPr lang="en-US" sz="15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5321808"/>
            <a:ext cx="237744" cy="23774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455664" y="4754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656832" y="4956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(A1–A4)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656832" y="5358384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 courses</a:t>
            </a:r>
            <a:endParaRPr lang="en-US" sz="15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5321808"/>
            <a:ext cx="237744" cy="23774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354312" y="4754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9555480" y="4956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(B1–B4)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9555480" y="5358384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depth courses + electives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Concentrations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 leads to a distinct family of careers.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91640"/>
            <a:ext cx="118872" cy="22128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84248"/>
            <a:ext cx="713232" cy="713232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488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984248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7552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operate the systems the world runs 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7552" y="3319272"/>
            <a:ext cx="2320747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3319272"/>
            <a:ext cx="2320747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Software Developer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36315" y="3319272"/>
            <a:ext cx="1271016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3" name="Text 10"/>
          <p:cNvSpPr/>
          <p:nvPr/>
        </p:nvSpPr>
        <p:spPr>
          <a:xfrm>
            <a:off x="3436315" y="3319272"/>
            <a:ext cx="1271016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19088" y="1691640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19088" y="1691640"/>
            <a:ext cx="118872" cy="22128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3"/>
          <p:cNvSpPr/>
          <p:nvPr/>
        </p:nvSpPr>
        <p:spPr>
          <a:xfrm>
            <a:off x="6729984" y="1984248"/>
            <a:ext cx="713232" cy="713232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214884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589520" y="1984248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Cyber Security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748272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networks, data, and infrastructure end to end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748272" y="3319272"/>
            <a:ext cx="1345997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1" name="Text 17"/>
          <p:cNvSpPr/>
          <p:nvPr/>
        </p:nvSpPr>
        <p:spPr>
          <a:xfrm>
            <a:off x="6748272" y="3319272"/>
            <a:ext cx="1345997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222285" y="3319272"/>
            <a:ext cx="1495958" cy="384048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3" name="Text 19"/>
          <p:cNvSpPr/>
          <p:nvPr/>
        </p:nvSpPr>
        <p:spPr>
          <a:xfrm>
            <a:off x="8222285" y="3319272"/>
            <a:ext cx="1495958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Engineer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8368" y="4178808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4178808"/>
            <a:ext cx="118872" cy="22128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2"/>
          <p:cNvSpPr/>
          <p:nvPr/>
        </p:nvSpPr>
        <p:spPr>
          <a:xfrm>
            <a:off x="969264" y="4471416"/>
            <a:ext cx="713232" cy="713232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4636008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828800" y="447141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850" dirty="0"/>
          </a:p>
        </p:txBody>
      </p:sp>
      <p:sp>
        <p:nvSpPr>
          <p:cNvPr id="29" name="Text 24"/>
          <p:cNvSpPr/>
          <p:nvPr/>
        </p:nvSpPr>
        <p:spPr>
          <a:xfrm>
            <a:off x="987552" y="5276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intelligent systems that perceive, reason, and act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87552" y="5806440"/>
            <a:ext cx="1345997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31" name="Text 26"/>
          <p:cNvSpPr/>
          <p:nvPr/>
        </p:nvSpPr>
        <p:spPr>
          <a:xfrm>
            <a:off x="987552" y="5806440"/>
            <a:ext cx="1345997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461565" y="5806440"/>
            <a:ext cx="1196035" cy="384048"/>
          </a:xfrm>
          <a:prstGeom prst="roundRect">
            <a:avLst>
              <a:gd name="adj" fmla="val 14286"/>
            </a:avLst>
          </a:prstGeom>
          <a:solidFill>
            <a:srgbClr val="EDE9FE"/>
          </a:solidFill>
          <a:ln/>
        </p:spPr>
      </p:sp>
      <p:sp>
        <p:nvSpPr>
          <p:cNvPr id="33" name="Text 28"/>
          <p:cNvSpPr/>
          <p:nvPr/>
        </p:nvSpPr>
        <p:spPr>
          <a:xfrm>
            <a:off x="2461565" y="5806440"/>
            <a:ext cx="1196035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419088" y="4178808"/>
            <a:ext cx="54406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419088" y="4178808"/>
            <a:ext cx="118872" cy="22128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1"/>
          <p:cNvSpPr/>
          <p:nvPr/>
        </p:nvSpPr>
        <p:spPr>
          <a:xfrm>
            <a:off x="6729984" y="4471416"/>
            <a:ext cx="713232" cy="71323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636008"/>
            <a:ext cx="384048" cy="3840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589520" y="447141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Finance, Optimization &amp; Quantum</a:t>
            </a:r>
            <a:endParaRPr lang="en-US" sz="1850" dirty="0"/>
          </a:p>
        </p:txBody>
      </p:sp>
      <p:sp>
        <p:nvSpPr>
          <p:cNvPr id="39" name="Text 33"/>
          <p:cNvSpPr/>
          <p:nvPr/>
        </p:nvSpPr>
        <p:spPr>
          <a:xfrm>
            <a:off x="6748272" y="52760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modeling, optimization, and quantum algorithms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6748272" y="5806440"/>
            <a:ext cx="2170786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41" name="Text 35"/>
          <p:cNvSpPr/>
          <p:nvPr/>
        </p:nvSpPr>
        <p:spPr>
          <a:xfrm>
            <a:off x="6748272" y="5806440"/>
            <a:ext cx="2170786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Software Engineer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9047074" y="5806440"/>
            <a:ext cx="1795882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43" name="Text 37"/>
          <p:cNvSpPr/>
          <p:nvPr/>
        </p:nvSpPr>
        <p:spPr>
          <a:xfrm>
            <a:off x="9047074" y="5806440"/>
            <a:ext cx="1795882" cy="3840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Algo-Trading Developer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051560" cy="105156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88696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Engineering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operate the systems the world runs 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ROLES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51937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Software Developer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5669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Designated Courses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26280" y="11155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courses define this track; remaining catalog courses count as electives.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26280" y="1709928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FOUNDATION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98280" y="1691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– A4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26280" y="21122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6280" y="2112264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4690872" y="21122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39512" y="21122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Cloud-Native Platforms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35640" y="2112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694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/>
        </p:spPr>
      </p:sp>
      <p:sp>
        <p:nvSpPr>
          <p:cNvPr id="23" name="Shape 20"/>
          <p:cNvSpPr/>
          <p:nvPr/>
        </p:nvSpPr>
        <p:spPr>
          <a:xfrm>
            <a:off x="4526280" y="2569464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4690872" y="2569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239512" y="25694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 Software Development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35640" y="25694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26280" y="30266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/>
        </p:spPr>
      </p:sp>
      <p:sp>
        <p:nvSpPr>
          <p:cNvPr id="28" name="Shape 25"/>
          <p:cNvSpPr/>
          <p:nvPr/>
        </p:nvSpPr>
        <p:spPr>
          <a:xfrm>
            <a:off x="4526280" y="3026664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6"/>
          <p:cNvSpPr/>
          <p:nvPr/>
        </p:nvSpPr>
        <p:spPr>
          <a:xfrm>
            <a:off x="4690872" y="30266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239512" y="30266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Systems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835640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4838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DBE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4526280" y="3483864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4690872" y="3483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239512" y="34838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Front-End Web Development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835640" y="34838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26280" y="416052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45262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92040" y="4142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DEPTH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098280" y="41422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– B4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26280" y="45628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2" name="Shape 39"/>
          <p:cNvSpPr/>
          <p:nvPr/>
        </p:nvSpPr>
        <p:spPr>
          <a:xfrm>
            <a:off x="4526280" y="4562856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690872" y="45628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239512" y="45628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Web Development &amp; APIs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835640" y="4562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26280" y="50200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7" name="Shape 44"/>
          <p:cNvSpPr/>
          <p:nvPr/>
        </p:nvSpPr>
        <p:spPr>
          <a:xfrm>
            <a:off x="4526280" y="5020056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5"/>
          <p:cNvSpPr/>
          <p:nvPr/>
        </p:nvSpPr>
        <p:spPr>
          <a:xfrm>
            <a:off x="4690872" y="50200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239512" y="50200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Ops of AI Systems (DevOps/MLOps)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835640" y="50200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26280" y="54772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2" name="Shape 49"/>
          <p:cNvSpPr/>
          <p:nvPr/>
        </p:nvSpPr>
        <p:spPr>
          <a:xfrm>
            <a:off x="4526280" y="5477256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4690872" y="54772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239512" y="54772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IoT &amp; Edge Software Development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10835640" y="54772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SE6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526280" y="59344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7" name="Shape 54"/>
          <p:cNvSpPr/>
          <p:nvPr/>
        </p:nvSpPr>
        <p:spPr>
          <a:xfrm>
            <a:off x="4526280" y="5934456"/>
            <a:ext cx="64008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5"/>
          <p:cNvSpPr/>
          <p:nvPr/>
        </p:nvSpPr>
        <p:spPr>
          <a:xfrm>
            <a:off x="4690872" y="59344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239512" y="59344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AI-based &amp; Data-Intensive Systems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0835640" y="59344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051560" cy="105156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88696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&amp; Cyber Security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networks, data, and infrastructure end to 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ROLES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51937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5669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Designated Courses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26280" y="11155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courses define this track; remaining catalog courses count as electives.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26280" y="1709928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FOUNDATION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98280" y="1691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– A4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26280" y="21122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E2E2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6280" y="2112264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690872" y="21122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39512" y="21122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Cloud-Native Platforms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35640" y="2112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694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E2E2"/>
          </a:solidFill>
          <a:ln/>
        </p:spPr>
      </p:sp>
      <p:sp>
        <p:nvSpPr>
          <p:cNvPr id="23" name="Shape 20"/>
          <p:cNvSpPr/>
          <p:nvPr/>
        </p:nvSpPr>
        <p:spPr>
          <a:xfrm>
            <a:off x="4526280" y="2569464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/>
          <p:nvPr/>
        </p:nvSpPr>
        <p:spPr>
          <a:xfrm>
            <a:off x="4690872" y="2569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239512" y="25694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 Software Development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35640" y="25694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26280" y="30266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E2E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26280" y="3026664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6"/>
          <p:cNvSpPr/>
          <p:nvPr/>
        </p:nvSpPr>
        <p:spPr>
          <a:xfrm>
            <a:off x="4690872" y="30266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239512" y="30266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Systems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835640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4838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E2E2"/>
          </a:solidFill>
          <a:ln/>
        </p:spPr>
      </p:sp>
      <p:sp>
        <p:nvSpPr>
          <p:cNvPr id="33" name="Shape 30"/>
          <p:cNvSpPr/>
          <p:nvPr/>
        </p:nvSpPr>
        <p:spPr>
          <a:xfrm>
            <a:off x="4526280" y="3483864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1"/>
          <p:cNvSpPr/>
          <p:nvPr/>
        </p:nvSpPr>
        <p:spPr>
          <a:xfrm>
            <a:off x="4690872" y="3483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239512" y="34838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Cryptography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835640" y="34838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CY1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26280" y="416052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5"/>
          <p:cNvSpPr/>
          <p:nvPr/>
        </p:nvSpPr>
        <p:spPr>
          <a:xfrm>
            <a:off x="45262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92040" y="4142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DEPTH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098280" y="41422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– B4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26280" y="45628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2" name="Shape 39"/>
          <p:cNvSpPr/>
          <p:nvPr/>
        </p:nvSpPr>
        <p:spPr>
          <a:xfrm>
            <a:off x="4526280" y="4562856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4690872" y="45628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239512" y="45628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Ops of AI Systems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835640" y="4562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26280" y="50200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7" name="Shape 44"/>
          <p:cNvSpPr/>
          <p:nvPr/>
        </p:nvSpPr>
        <p:spPr>
          <a:xfrm>
            <a:off x="4526280" y="5020056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4690872" y="50200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239512" y="50200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Embedded Systems Security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835640" y="50200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CY3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26280" y="54772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2" name="Shape 49"/>
          <p:cNvSpPr/>
          <p:nvPr/>
        </p:nvSpPr>
        <p:spPr>
          <a:xfrm>
            <a:off x="4526280" y="5477256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4690872" y="54772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239512" y="54772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Governance, Risk &amp; Compliance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10835640" y="54772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CY4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526280" y="59344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7" name="Shape 54"/>
          <p:cNvSpPr/>
          <p:nvPr/>
        </p:nvSpPr>
        <p:spPr>
          <a:xfrm>
            <a:off x="4526280" y="5934456"/>
            <a:ext cx="64008" cy="4206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Text 55"/>
          <p:cNvSpPr/>
          <p:nvPr/>
        </p:nvSpPr>
        <p:spPr>
          <a:xfrm>
            <a:off x="4690872" y="59344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239512" y="59344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and Decentralized Cryptographic Systems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0835640" y="59344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051560" cy="105156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88696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intelligent systems that perceive, reason, and act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ROLES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51937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Scientist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5669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Designated Courses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26280" y="11155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courses define this track; remaining catalog courses count as electives.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26280" y="1709928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FOUNDATION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98280" y="1691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– A4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26280" y="21122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6280" y="2112264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4690872" y="21122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39512" y="21122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Systems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35640" y="2112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694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/>
        </p:spPr>
      </p:sp>
      <p:sp>
        <p:nvSpPr>
          <p:cNvPr id="23" name="Shape 20"/>
          <p:cNvSpPr/>
          <p:nvPr/>
        </p:nvSpPr>
        <p:spPr>
          <a:xfrm>
            <a:off x="4526280" y="2569464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4690872" y="2569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239512" y="25694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AI: Time Series &amp; Decisions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35640" y="25694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26280" y="30266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/>
        </p:spPr>
      </p:sp>
      <p:sp>
        <p:nvSpPr>
          <p:cNvPr id="28" name="Shape 25"/>
          <p:cNvSpPr/>
          <p:nvPr/>
        </p:nvSpPr>
        <p:spPr>
          <a:xfrm>
            <a:off x="4526280" y="3026664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/>
          <p:nvPr/>
        </p:nvSpPr>
        <p:spPr>
          <a:xfrm>
            <a:off x="4690872" y="30266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239512" y="30266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AI: Deep Learning for Vision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835640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AI3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4838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EDE9FE"/>
          </a:solidFill>
          <a:ln/>
        </p:spPr>
      </p:sp>
      <p:sp>
        <p:nvSpPr>
          <p:cNvPr id="33" name="Shape 30"/>
          <p:cNvSpPr/>
          <p:nvPr/>
        </p:nvSpPr>
        <p:spPr>
          <a:xfrm>
            <a:off x="4526280" y="3483864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1"/>
          <p:cNvSpPr/>
          <p:nvPr/>
        </p:nvSpPr>
        <p:spPr>
          <a:xfrm>
            <a:off x="4690872" y="3483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239512" y="34838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AI: Big-Data Algorithms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835640" y="34838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AI4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26280" y="4160520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5"/>
          <p:cNvSpPr/>
          <p:nvPr/>
        </p:nvSpPr>
        <p:spPr>
          <a:xfrm>
            <a:off x="45262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92040" y="4142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DEPTH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098280" y="41422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– B4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26280" y="45628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2" name="Shape 39"/>
          <p:cNvSpPr/>
          <p:nvPr/>
        </p:nvSpPr>
        <p:spPr>
          <a:xfrm>
            <a:off x="4526280" y="4562856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0"/>
          <p:cNvSpPr/>
          <p:nvPr/>
        </p:nvSpPr>
        <p:spPr>
          <a:xfrm>
            <a:off x="4690872" y="45628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239512" y="45628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Ops of AI Systems (MLOps/LLMOps)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835640" y="4562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26280" y="50200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7" name="Shape 44"/>
          <p:cNvSpPr/>
          <p:nvPr/>
        </p:nvSpPr>
        <p:spPr>
          <a:xfrm>
            <a:off x="4526280" y="5020056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5"/>
          <p:cNvSpPr/>
          <p:nvPr/>
        </p:nvSpPr>
        <p:spPr>
          <a:xfrm>
            <a:off x="4690872" y="50200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239512" y="50200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AI-based &amp; Data-Intensive Systems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835640" y="50200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SE7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26280" y="54772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2" name="Shape 49"/>
          <p:cNvSpPr/>
          <p:nvPr/>
        </p:nvSpPr>
        <p:spPr>
          <a:xfrm>
            <a:off x="4526280" y="5477256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0"/>
          <p:cNvSpPr/>
          <p:nvPr/>
        </p:nvSpPr>
        <p:spPr>
          <a:xfrm>
            <a:off x="4690872" y="54772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239512" y="54772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Deep Generative Models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10835640" y="54772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AI5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526280" y="59344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7" name="Shape 54"/>
          <p:cNvSpPr/>
          <p:nvPr/>
        </p:nvSpPr>
        <p:spPr>
          <a:xfrm>
            <a:off x="4526280" y="5934456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5"/>
          <p:cNvSpPr/>
          <p:nvPr/>
        </p:nvSpPr>
        <p:spPr>
          <a:xfrm>
            <a:off x="4690872" y="59344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239512" y="59344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AI: Robotics &amp; Autonomous Systems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0835640" y="59344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051560" cy="105156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88696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CONCENTRATION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2240280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Comp. Finance, Optimization &amp; Quantum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modeling, optimization, and quantum algorithms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ROLES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5193792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Software Engineer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Algo-Trading Developer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Analyst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26280" y="56692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Designated Courses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26280" y="111556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courses define this track; remaining catalog courses count as electives.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26280" y="1709928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16916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FOUNDATION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98280" y="1691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– A4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26280" y="21122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/>
        </p:spPr>
      </p:sp>
      <p:sp>
        <p:nvSpPr>
          <p:cNvPr id="18" name="Shape 15"/>
          <p:cNvSpPr/>
          <p:nvPr/>
        </p:nvSpPr>
        <p:spPr>
          <a:xfrm>
            <a:off x="4526280" y="2112264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4690872" y="21122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39512" y="21122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Cloud-Native Platforms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35640" y="21122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26280" y="25694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/>
        </p:spPr>
      </p:sp>
      <p:sp>
        <p:nvSpPr>
          <p:cNvPr id="23" name="Shape 20"/>
          <p:cNvSpPr/>
          <p:nvPr/>
        </p:nvSpPr>
        <p:spPr>
          <a:xfrm>
            <a:off x="4526280" y="2569464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4690872" y="2569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239512" y="25694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Systems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35640" y="25694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26280" y="30266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/>
        </p:spPr>
      </p:sp>
      <p:sp>
        <p:nvSpPr>
          <p:cNvPr id="28" name="Shape 25"/>
          <p:cNvSpPr/>
          <p:nvPr/>
        </p:nvSpPr>
        <p:spPr>
          <a:xfrm>
            <a:off x="4526280" y="3026664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690872" y="30266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239512" y="30266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Cryptography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835640" y="30266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26280" y="3483864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/>
        </p:spPr>
      </p:sp>
      <p:sp>
        <p:nvSpPr>
          <p:cNvPr id="33" name="Shape 30"/>
          <p:cNvSpPr/>
          <p:nvPr/>
        </p:nvSpPr>
        <p:spPr>
          <a:xfrm>
            <a:off x="4526280" y="3483864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4690872" y="34838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A4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239512" y="348386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AI: Time Series &amp; Decisions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835640" y="348386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26280" y="416052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452628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4892040" y="41422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DEPTH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098280" y="41422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 – B4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26280" y="45628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2" name="Shape 39"/>
          <p:cNvSpPr/>
          <p:nvPr/>
        </p:nvSpPr>
        <p:spPr>
          <a:xfrm>
            <a:off x="4526280" y="4562856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0"/>
          <p:cNvSpPr/>
          <p:nvPr/>
        </p:nvSpPr>
        <p:spPr>
          <a:xfrm>
            <a:off x="4690872" y="45628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239512" y="45628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AI-based &amp; Data-Intensive Systems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835640" y="4562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SE7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526280" y="50200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7" name="Shape 44"/>
          <p:cNvSpPr/>
          <p:nvPr/>
        </p:nvSpPr>
        <p:spPr>
          <a:xfrm>
            <a:off x="4526280" y="5020056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/>
          <p:nvPr/>
        </p:nvSpPr>
        <p:spPr>
          <a:xfrm>
            <a:off x="4690872" y="50200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239512" y="50200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and Decentralized Cryptographic Systems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835640" y="50200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26280" y="54772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2" name="Shape 49"/>
          <p:cNvSpPr/>
          <p:nvPr/>
        </p:nvSpPr>
        <p:spPr>
          <a:xfrm>
            <a:off x="4526280" y="5477256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0"/>
          <p:cNvSpPr/>
          <p:nvPr/>
        </p:nvSpPr>
        <p:spPr>
          <a:xfrm>
            <a:off x="4690872" y="54772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239512" y="54772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10835640" y="54772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QCF1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4526280" y="5934456"/>
            <a:ext cx="7178040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7" name="Shape 54"/>
          <p:cNvSpPr/>
          <p:nvPr/>
        </p:nvSpPr>
        <p:spPr>
          <a:xfrm>
            <a:off x="4526280" y="5934456"/>
            <a:ext cx="64008" cy="4206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5"/>
          <p:cNvSpPr/>
          <p:nvPr/>
        </p:nvSpPr>
        <p:spPr>
          <a:xfrm>
            <a:off x="4690872" y="593445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239512" y="593445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Optimization for Finance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10835640" y="59344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QCF2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Course Catalog &amp; Track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catalog feeds every concentration. A cell shows the role a course plays in each track: a core (A) or advanced (B) requirement, or an elective.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1208" y="1463040"/>
            <a:ext cx="1737360" cy="310896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463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Core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95728" y="1463040"/>
            <a:ext cx="1737360" cy="310896"/>
          </a:xfrm>
          <a:prstGeom prst="roundRect">
            <a:avLst>
              <a:gd name="adj" fmla="val 11765"/>
            </a:avLst>
          </a:prstGeom>
          <a:solidFill>
            <a:srgbClr val="94A3B8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463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· Advanced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1463040"/>
            <a:ext cx="1737360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463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Elective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1938528"/>
            <a:ext cx="566928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19385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88136" y="1938528"/>
            <a:ext cx="580644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1938528"/>
            <a:ext cx="5806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1938528"/>
            <a:ext cx="1078992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94576" y="19385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73568" y="1938528"/>
            <a:ext cx="1078992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973568" y="19385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938528"/>
            <a:ext cx="1078992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9385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31552" y="1938528"/>
            <a:ext cx="1078992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1552" y="19385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" y="2304288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304288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88136" y="2304288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2304288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Cloud-Native Platforms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94576" y="2304288"/>
            <a:ext cx="1078992" cy="21397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230428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73568" y="2304288"/>
            <a:ext cx="1078992" cy="213970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73568" y="230428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52560" y="2304288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30428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131552" y="2304288"/>
            <a:ext cx="1078992" cy="21397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31552" y="230428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2518258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2518258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88136" y="2518258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33856" y="2518258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Reliable Software Development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94576" y="2518258"/>
            <a:ext cx="1078992" cy="21397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251825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73568" y="2518258"/>
            <a:ext cx="1078992" cy="213970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251825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052560" y="2518258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52560" y="251825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131552" y="2518258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31552" y="2518258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21208" y="2732227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" y="2732227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SE3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88136" y="2732227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2732227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Front-End Web Development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94576" y="2732227"/>
            <a:ext cx="1078992" cy="21397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273222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973568" y="2732227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73568" y="273222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52560" y="2732227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2560" y="273222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131552" y="2732227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31552" y="273222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1208" y="2946197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1208" y="2946197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88136" y="2946197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3856" y="2946197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Web Development &amp; APIs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94576" y="2946197"/>
            <a:ext cx="1078992" cy="2139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94576" y="294619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73568" y="2946197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73568" y="294619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052560" y="2946197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52560" y="294619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131552" y="2946197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31552" y="2946197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21208" y="3160166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1208" y="3160166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SE5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88136" y="3160166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33856" y="3160166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Ops of AI Systems (DevOps/MLOps)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894576" y="3160166"/>
            <a:ext cx="1078992" cy="2139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94576" y="316016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973568" y="3160166"/>
            <a:ext cx="1078992" cy="21397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73568" y="316016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052560" y="3160166"/>
            <a:ext cx="1078992" cy="21397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52560" y="316016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131552" y="3160166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31552" y="316016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21208" y="3374136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1208" y="3374136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SE6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088136" y="3374136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33856" y="3374136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IoT &amp; Edge Software Development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894576" y="3374136"/>
            <a:ext cx="1078992" cy="2139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94576" y="337413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973568" y="3374136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73568" y="337413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9052560" y="3374136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52560" y="337413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0131552" y="3374136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131552" y="337413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21208" y="3588106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21208" y="3588106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SE7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088136" y="3588106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33856" y="3588106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AI-based &amp; Data-Intensive Systems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894576" y="3588106"/>
            <a:ext cx="1078992" cy="2139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94576" y="358810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973568" y="3588106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73568" y="358810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9052560" y="3588106"/>
            <a:ext cx="1078992" cy="21397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052560" y="358810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0131552" y="3588106"/>
            <a:ext cx="1078992" cy="21397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131552" y="3588106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21208" y="3802075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1208" y="3802075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CY1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088136" y="3802075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33856" y="3802075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Cryptography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894576" y="3802075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94576" y="380207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973568" y="3802075"/>
            <a:ext cx="1078992" cy="213970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73568" y="380207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9052560" y="3802075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052560" y="380207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0131552" y="3802075"/>
            <a:ext cx="1078992" cy="21397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131552" y="380207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521208" y="4016045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1208" y="4016045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CY2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1088136" y="4016045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33856" y="4016045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Communication Security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894576" y="4016045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894576" y="401604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7973568" y="4016045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973568" y="401604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9052560" y="4016045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052560" y="401604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0131552" y="4016045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131552" y="4016045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21208" y="4230014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21208" y="4230014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CY3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1088136" y="4230014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33856" y="4230014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Embedded Systems Security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6894576" y="4230014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894576" y="423001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7973568" y="4230014"/>
            <a:ext cx="1078992" cy="21397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973568" y="423001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9052560" y="4230014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052560" y="423001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0131552" y="4230014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131552" y="423001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521208" y="4443984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21208" y="4443984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CY4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1088136" y="4443984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133856" y="4443984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Governance, Risk &amp; Compliance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6894576" y="4443984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894576" y="444398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7973568" y="4443984"/>
            <a:ext cx="1078992" cy="21397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973568" y="444398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9052560" y="4443984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052560" y="444398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10131552" y="4443984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131552" y="444398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521208" y="4657954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21208" y="4657954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CY5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1088136" y="4657954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133856" y="4657954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and Decentralized Cryptographic Systems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6894576" y="4657954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894576" y="465795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7973568" y="4657954"/>
            <a:ext cx="1078992" cy="21397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973568" y="465795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9052560" y="4657954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052560" y="465795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10131552" y="4657954"/>
            <a:ext cx="1078992" cy="21397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0131552" y="4657954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521208" y="4871923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21208" y="4871923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AI1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1088136" y="4871923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1133856" y="4871923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Systems</a:t>
            </a:r>
            <a:endParaRPr lang="en-US" sz="950" dirty="0"/>
          </a:p>
        </p:txBody>
      </p:sp>
      <p:sp>
        <p:nvSpPr>
          <p:cNvPr id="170" name="Shape 168"/>
          <p:cNvSpPr/>
          <p:nvPr/>
        </p:nvSpPr>
        <p:spPr>
          <a:xfrm>
            <a:off x="6894576" y="4871923"/>
            <a:ext cx="1078992" cy="213970"/>
          </a:xfrm>
          <a:prstGeom prst="rect">
            <a:avLst/>
          </a:prstGeom>
          <a:solidFill>
            <a:srgbClr val="2563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894576" y="487192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72" name="Shape 170"/>
          <p:cNvSpPr/>
          <p:nvPr/>
        </p:nvSpPr>
        <p:spPr>
          <a:xfrm>
            <a:off x="7973568" y="4871923"/>
            <a:ext cx="1078992" cy="213970"/>
          </a:xfrm>
          <a:prstGeom prst="rect">
            <a:avLst/>
          </a:prstGeom>
          <a:solidFill>
            <a:srgbClr val="DC262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973568" y="487192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9052560" y="4871923"/>
            <a:ext cx="1078992" cy="213970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52560" y="487192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10131552" y="4871923"/>
            <a:ext cx="1078992" cy="21397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0131552" y="487192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78" name="Shape 176"/>
          <p:cNvSpPr/>
          <p:nvPr/>
        </p:nvSpPr>
        <p:spPr>
          <a:xfrm>
            <a:off x="521208" y="5085893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21208" y="5085893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1088136" y="5085893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1133856" y="5085893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AI: Time Series &amp; Decisions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6894576" y="5085893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894576" y="508589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7973568" y="5085893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973568" y="508589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86" name="Shape 184"/>
          <p:cNvSpPr/>
          <p:nvPr/>
        </p:nvSpPr>
        <p:spPr>
          <a:xfrm>
            <a:off x="9052560" y="5085893"/>
            <a:ext cx="1078992" cy="213970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9052560" y="508589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88" name="Shape 186"/>
          <p:cNvSpPr/>
          <p:nvPr/>
        </p:nvSpPr>
        <p:spPr>
          <a:xfrm>
            <a:off x="10131552" y="5085893"/>
            <a:ext cx="1078992" cy="213970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0131552" y="5085893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190" name="Shape 188"/>
          <p:cNvSpPr/>
          <p:nvPr/>
        </p:nvSpPr>
        <p:spPr>
          <a:xfrm>
            <a:off x="521208" y="5299862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1208" y="5299862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AI3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1088136" y="5299862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133856" y="5299862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AI: Deep Learning for Vision</a:t>
            </a:r>
            <a:endParaRPr lang="en-US" sz="950" dirty="0"/>
          </a:p>
        </p:txBody>
      </p:sp>
      <p:sp>
        <p:nvSpPr>
          <p:cNvPr id="194" name="Shape 192"/>
          <p:cNvSpPr/>
          <p:nvPr/>
        </p:nvSpPr>
        <p:spPr>
          <a:xfrm>
            <a:off x="6894576" y="529986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894576" y="529986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96" name="Shape 194"/>
          <p:cNvSpPr/>
          <p:nvPr/>
        </p:nvSpPr>
        <p:spPr>
          <a:xfrm>
            <a:off x="7973568" y="529986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7973568" y="529986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198" name="Shape 196"/>
          <p:cNvSpPr/>
          <p:nvPr/>
        </p:nvSpPr>
        <p:spPr>
          <a:xfrm>
            <a:off x="9052560" y="5299862"/>
            <a:ext cx="1078992" cy="213970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9052560" y="529986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200" name="Shape 198"/>
          <p:cNvSpPr/>
          <p:nvPr/>
        </p:nvSpPr>
        <p:spPr>
          <a:xfrm>
            <a:off x="10131552" y="529986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0131552" y="529986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02" name="Shape 200"/>
          <p:cNvSpPr/>
          <p:nvPr/>
        </p:nvSpPr>
        <p:spPr>
          <a:xfrm>
            <a:off x="521208" y="5513832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521208" y="5513832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AI4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1088136" y="5513832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133856" y="5513832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AI: Big-Data Algorithms</a:t>
            </a:r>
            <a:endParaRPr lang="en-US" sz="950" dirty="0"/>
          </a:p>
        </p:txBody>
      </p:sp>
      <p:sp>
        <p:nvSpPr>
          <p:cNvPr id="206" name="Shape 204"/>
          <p:cNvSpPr/>
          <p:nvPr/>
        </p:nvSpPr>
        <p:spPr>
          <a:xfrm>
            <a:off x="6894576" y="5513832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894576" y="551383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08" name="Shape 206"/>
          <p:cNvSpPr/>
          <p:nvPr/>
        </p:nvSpPr>
        <p:spPr>
          <a:xfrm>
            <a:off x="7973568" y="5513832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973568" y="551383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10" name="Shape 208"/>
          <p:cNvSpPr/>
          <p:nvPr/>
        </p:nvSpPr>
        <p:spPr>
          <a:xfrm>
            <a:off x="9052560" y="5513832"/>
            <a:ext cx="1078992" cy="213970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9052560" y="551383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</p:txBody>
      </p:sp>
      <p:sp>
        <p:nvSpPr>
          <p:cNvPr id="212" name="Shape 210"/>
          <p:cNvSpPr/>
          <p:nvPr/>
        </p:nvSpPr>
        <p:spPr>
          <a:xfrm>
            <a:off x="10131552" y="5513832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10131552" y="551383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14" name="Shape 212"/>
          <p:cNvSpPr/>
          <p:nvPr/>
        </p:nvSpPr>
        <p:spPr>
          <a:xfrm>
            <a:off x="521208" y="5727802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21208" y="5727802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AI5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1088136" y="5727802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1133856" y="5727802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Deep Generative Models</a:t>
            </a:r>
            <a:endParaRPr lang="en-US" sz="950" dirty="0"/>
          </a:p>
        </p:txBody>
      </p:sp>
      <p:sp>
        <p:nvSpPr>
          <p:cNvPr id="218" name="Shape 216"/>
          <p:cNvSpPr/>
          <p:nvPr/>
        </p:nvSpPr>
        <p:spPr>
          <a:xfrm>
            <a:off x="6894576" y="572780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6894576" y="572780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20" name="Shape 218"/>
          <p:cNvSpPr/>
          <p:nvPr/>
        </p:nvSpPr>
        <p:spPr>
          <a:xfrm>
            <a:off x="7973568" y="572780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7973568" y="572780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22" name="Shape 220"/>
          <p:cNvSpPr/>
          <p:nvPr/>
        </p:nvSpPr>
        <p:spPr>
          <a:xfrm>
            <a:off x="9052560" y="5727802"/>
            <a:ext cx="1078992" cy="21397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9052560" y="572780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224" name="Shape 222"/>
          <p:cNvSpPr/>
          <p:nvPr/>
        </p:nvSpPr>
        <p:spPr>
          <a:xfrm>
            <a:off x="10131552" y="5727802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0131552" y="5727802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26" name="Shape 224"/>
          <p:cNvSpPr/>
          <p:nvPr/>
        </p:nvSpPr>
        <p:spPr>
          <a:xfrm>
            <a:off x="521208" y="5941771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21208" y="5941771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AI6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88136" y="5941771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1133856" y="5941771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AI: Robotics &amp; Autonomous Systems</a:t>
            </a:r>
            <a:endParaRPr lang="en-US" sz="950" dirty="0"/>
          </a:p>
        </p:txBody>
      </p:sp>
      <p:sp>
        <p:nvSpPr>
          <p:cNvPr id="230" name="Shape 228"/>
          <p:cNvSpPr/>
          <p:nvPr/>
        </p:nvSpPr>
        <p:spPr>
          <a:xfrm>
            <a:off x="6894576" y="5941771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894576" y="594177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32" name="Shape 230"/>
          <p:cNvSpPr/>
          <p:nvPr/>
        </p:nvSpPr>
        <p:spPr>
          <a:xfrm>
            <a:off x="7973568" y="5941771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7973568" y="594177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34" name="Shape 232"/>
          <p:cNvSpPr/>
          <p:nvPr/>
        </p:nvSpPr>
        <p:spPr>
          <a:xfrm>
            <a:off x="9052560" y="5941771"/>
            <a:ext cx="1078992" cy="21397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9052560" y="594177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236" name="Shape 234"/>
          <p:cNvSpPr/>
          <p:nvPr/>
        </p:nvSpPr>
        <p:spPr>
          <a:xfrm>
            <a:off x="10131552" y="5941771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0131552" y="594177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38" name="Shape 236"/>
          <p:cNvSpPr/>
          <p:nvPr/>
        </p:nvSpPr>
        <p:spPr>
          <a:xfrm>
            <a:off x="521208" y="6155741"/>
            <a:ext cx="566928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21208" y="6155741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QCF1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088136" y="6155741"/>
            <a:ext cx="5806440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133856" y="6155741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950" dirty="0"/>
          </a:p>
        </p:txBody>
      </p:sp>
      <p:sp>
        <p:nvSpPr>
          <p:cNvPr id="242" name="Shape 240"/>
          <p:cNvSpPr/>
          <p:nvPr/>
        </p:nvSpPr>
        <p:spPr>
          <a:xfrm>
            <a:off x="6894576" y="6155741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6894576" y="615574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44" name="Shape 242"/>
          <p:cNvSpPr/>
          <p:nvPr/>
        </p:nvSpPr>
        <p:spPr>
          <a:xfrm>
            <a:off x="7973568" y="6155741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7973568" y="615574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46" name="Shape 244"/>
          <p:cNvSpPr/>
          <p:nvPr/>
        </p:nvSpPr>
        <p:spPr>
          <a:xfrm>
            <a:off x="9052560" y="6155741"/>
            <a:ext cx="1078992" cy="2139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9052560" y="615574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48" name="Shape 246"/>
          <p:cNvSpPr/>
          <p:nvPr/>
        </p:nvSpPr>
        <p:spPr>
          <a:xfrm>
            <a:off x="10131552" y="6155741"/>
            <a:ext cx="1078992" cy="21397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10131552" y="6155741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  <p:sp>
        <p:nvSpPr>
          <p:cNvPr id="250" name="Shape 248"/>
          <p:cNvSpPr/>
          <p:nvPr/>
        </p:nvSpPr>
        <p:spPr>
          <a:xfrm>
            <a:off x="521208" y="6369710"/>
            <a:ext cx="566928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21208" y="6369710"/>
            <a:ext cx="566928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QCF2</a:t>
            </a:r>
            <a:endParaRPr lang="en-US" sz="850" dirty="0"/>
          </a:p>
        </p:txBody>
      </p:sp>
      <p:sp>
        <p:nvSpPr>
          <p:cNvPr id="252" name="Shape 250"/>
          <p:cNvSpPr/>
          <p:nvPr/>
        </p:nvSpPr>
        <p:spPr>
          <a:xfrm>
            <a:off x="1088136" y="6369710"/>
            <a:ext cx="5806440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1133856" y="6369710"/>
            <a:ext cx="5715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Optimization for Finance</a:t>
            </a:r>
            <a:endParaRPr lang="en-US" sz="950" dirty="0"/>
          </a:p>
        </p:txBody>
      </p:sp>
      <p:sp>
        <p:nvSpPr>
          <p:cNvPr id="254" name="Shape 252"/>
          <p:cNvSpPr/>
          <p:nvPr/>
        </p:nvSpPr>
        <p:spPr>
          <a:xfrm>
            <a:off x="6894576" y="6369710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894576" y="6369710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56" name="Shape 254"/>
          <p:cNvSpPr/>
          <p:nvPr/>
        </p:nvSpPr>
        <p:spPr>
          <a:xfrm>
            <a:off x="7973568" y="6369710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973568" y="6369710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58" name="Shape 256"/>
          <p:cNvSpPr/>
          <p:nvPr/>
        </p:nvSpPr>
        <p:spPr>
          <a:xfrm>
            <a:off x="9052560" y="6369710"/>
            <a:ext cx="1078992" cy="21397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052560" y="6369710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950" dirty="0"/>
          </a:p>
        </p:txBody>
      </p:sp>
      <p:sp>
        <p:nvSpPr>
          <p:cNvPr id="260" name="Shape 258"/>
          <p:cNvSpPr/>
          <p:nvPr/>
        </p:nvSpPr>
        <p:spPr>
          <a:xfrm>
            <a:off x="10131552" y="6369710"/>
            <a:ext cx="1078992" cy="21397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10131552" y="6369710"/>
            <a:ext cx="107899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3047924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6711696"/>
            <a:ext cx="3047924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6711696"/>
            <a:ext cx="3047924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Path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rigorous foundation — four directions of depth. Your concentration shapes the projects you build, the courses you master, and the roles you step into after graduation.</a:t>
            </a:r>
            <a:endParaRPr lang="en-US" sz="1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63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4617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5120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Software Developer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46634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50792" y="4617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Cyber Security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593592" y="5120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Engineer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46634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21424" y="4617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364224" y="5120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/ AI Engineer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6" y="46634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92056" y="4617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Finance, Optimization &amp; Quantum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134856" y="51206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Software Engineer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Degree Concentrations</dc:title>
  <dc:subject>PptxGenJS Presentation</dc:subject>
  <dc:creator>CS Program Committee</dc:creator>
  <cp:lastModifiedBy>CS Program Committee</cp:lastModifiedBy>
  <cp:revision>1</cp:revision>
  <dcterms:created xsi:type="dcterms:W3CDTF">2026-07-03T03:43:40Z</dcterms:created>
  <dcterms:modified xsi:type="dcterms:W3CDTF">2026-07-03T03:43:40Z</dcterms:modified>
</cp:coreProperties>
</file>