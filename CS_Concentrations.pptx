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17145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714500"/>
            <a:ext cx="146304" cy="17145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429000"/>
            <a:ext cx="146304" cy="17145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143500"/>
            <a:ext cx="146304" cy="1714500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51560"/>
            <a:ext cx="566928" cy="5669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0789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UNDERGRADUATE CS PROGRAM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178308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Degree Concentrations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822960" y="306324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specialization tracks students choose in their third year — each a focused path of core and advanced courses built on a shared CS backbone.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822960" y="43434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5875">
            <a:solidFill>
              <a:srgbClr val="2563E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4562856"/>
            <a:ext cx="384048" cy="38404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24128" y="5074920"/>
            <a:ext cx="457200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9"/>
          <p:cNvSpPr/>
          <p:nvPr/>
        </p:nvSpPr>
        <p:spPr>
          <a:xfrm>
            <a:off x="987552" y="5148072"/>
            <a:ext cx="227685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3593592" y="43434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5875">
            <a:solidFill>
              <a:srgbClr val="DC262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4562856"/>
            <a:ext cx="384048" cy="38404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3794760" y="5074920"/>
            <a:ext cx="457200" cy="411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2"/>
          <p:cNvSpPr/>
          <p:nvPr/>
        </p:nvSpPr>
        <p:spPr>
          <a:xfrm>
            <a:off x="3758184" y="5148072"/>
            <a:ext cx="227685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&amp; Cyber Security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364224" y="43434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5875">
            <a:solidFill>
              <a:srgbClr val="7C3AED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562856"/>
            <a:ext cx="384048" cy="38404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565392" y="5074920"/>
            <a:ext cx="457200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Text 15"/>
          <p:cNvSpPr/>
          <p:nvPr/>
        </p:nvSpPr>
        <p:spPr>
          <a:xfrm>
            <a:off x="6528816" y="5148072"/>
            <a:ext cx="227685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9134856" y="43434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1E293B"/>
          </a:solidFill>
          <a:ln w="15875">
            <a:solidFill>
              <a:srgbClr val="D97706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6024" y="4562856"/>
            <a:ext cx="384048" cy="38404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9336024" y="5074920"/>
            <a:ext cx="457200" cy="4114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18"/>
          <p:cNvSpPr/>
          <p:nvPr/>
        </p:nvSpPr>
        <p:spPr>
          <a:xfrm>
            <a:off x="9299448" y="5148072"/>
            <a:ext cx="227685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Comp. Finance, Optimization &amp; Quantum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CS Program Plan  ·  Third-Year Specialization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Concentrations Work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170432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shares a common CS foundation, then specializes by completing one concentration: four core courses plus four advanced courses, rounded out with electives drawn from the shared catalog.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21488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14300" dist="38100" dir="5400000">
              <a:srgbClr val="0F172A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44144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72768" y="2313432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50976" y="317296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tracks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453128" y="21488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14300" dist="38100" dir="5400000">
              <a:srgbClr val="0F172A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244144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67528" y="2313432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4400" dirty="0"/>
          </a:p>
        </p:txBody>
      </p:sp>
      <p:sp>
        <p:nvSpPr>
          <p:cNvPr id="11" name="Text 7"/>
          <p:cNvSpPr/>
          <p:nvPr/>
        </p:nvSpPr>
        <p:spPr>
          <a:xfrm>
            <a:off x="4745736" y="317296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Designated courses each (4 core + 4 advanced)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247888" y="21488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114300" dist="38100" dir="5400000">
              <a:srgbClr val="0F172A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441448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162288" y="2313432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4400" dirty="0"/>
          </a:p>
        </p:txBody>
      </p:sp>
      <p:sp>
        <p:nvSpPr>
          <p:cNvPr id="15" name="Text 10"/>
          <p:cNvSpPr/>
          <p:nvPr/>
        </p:nvSpPr>
        <p:spPr>
          <a:xfrm>
            <a:off x="8540496" y="3172968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in the shared catalog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58368" y="4343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PATH THROUGH THE DEGREE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58368" y="475488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5875">
            <a:solidFill>
              <a:srgbClr val="E2E8F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859536" y="495604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A0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Years 1–2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859536" y="5358384"/>
            <a:ext cx="2203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CS core</a:t>
            </a:r>
            <a:endParaRPr lang="en-US" sz="15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5321808"/>
            <a:ext cx="237744" cy="237744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3557016" y="475488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0F172A"/>
          </a:solidFill>
          <a:ln w="15875">
            <a:solidFill>
              <a:srgbClr val="0F172A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3758184" y="495604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Year 3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3758184" y="5358384"/>
            <a:ext cx="2203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1 concentration</a:t>
            </a:r>
            <a:endParaRPr lang="en-US" sz="15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0488" y="5321808"/>
            <a:ext cx="237744" cy="237744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455664" y="475488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5875">
            <a:solidFill>
              <a:srgbClr val="E2E8F0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6656832" y="495604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(A1–A4)</a:t>
            </a:r>
            <a:endParaRPr lang="en-US" sz="1250" dirty="0"/>
          </a:p>
        </p:txBody>
      </p:sp>
      <p:sp>
        <p:nvSpPr>
          <p:cNvPr id="27" name="Text 20"/>
          <p:cNvSpPr/>
          <p:nvPr/>
        </p:nvSpPr>
        <p:spPr>
          <a:xfrm>
            <a:off x="6656832" y="5358384"/>
            <a:ext cx="2203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foundation courses</a:t>
            </a:r>
            <a:endParaRPr lang="en-US" sz="15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9136" y="5321808"/>
            <a:ext cx="237744" cy="237744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9354312" y="4754880"/>
            <a:ext cx="26060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5875">
            <a:solidFill>
              <a:srgbClr val="E2E8F0"/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9555480" y="4956048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Advanced (B1–B4)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9555480" y="5358384"/>
            <a:ext cx="2203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depth courses + electives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Concentrations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58368" y="1097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track leads to a distinct family of careers.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544068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F17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91640"/>
            <a:ext cx="118872" cy="22128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" y="1984248"/>
            <a:ext cx="713232" cy="713232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" y="2148840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1984248"/>
            <a:ext cx="4069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987552" y="27889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operate the systems the world runs on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87552" y="3319272"/>
            <a:ext cx="2320747" cy="384048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/>
        </p:spPr>
      </p:sp>
      <p:sp>
        <p:nvSpPr>
          <p:cNvPr id="11" name="Text 8"/>
          <p:cNvSpPr/>
          <p:nvPr/>
        </p:nvSpPr>
        <p:spPr>
          <a:xfrm>
            <a:off x="987552" y="3319272"/>
            <a:ext cx="2320747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Software Developer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436315" y="3319272"/>
            <a:ext cx="1271016" cy="384048"/>
          </a:xfrm>
          <a:prstGeom prst="roundRect">
            <a:avLst>
              <a:gd name="adj" fmla="val 14286"/>
            </a:avLst>
          </a:prstGeom>
          <a:solidFill>
            <a:srgbClr val="DBEAFE"/>
          </a:solidFill>
          <a:ln/>
        </p:spPr>
      </p:sp>
      <p:sp>
        <p:nvSpPr>
          <p:cNvPr id="13" name="Text 10"/>
          <p:cNvSpPr/>
          <p:nvPr/>
        </p:nvSpPr>
        <p:spPr>
          <a:xfrm>
            <a:off x="3436315" y="3319272"/>
            <a:ext cx="127101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Engineer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419088" y="1691640"/>
            <a:ext cx="544068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F172A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19088" y="1691640"/>
            <a:ext cx="118872" cy="22128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6" name="Shape 13"/>
          <p:cNvSpPr/>
          <p:nvPr/>
        </p:nvSpPr>
        <p:spPr>
          <a:xfrm>
            <a:off x="6729984" y="1984248"/>
            <a:ext cx="713232" cy="713232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576" y="2148840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589520" y="1984248"/>
            <a:ext cx="4069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&amp; Cyber Security</a:t>
            </a:r>
            <a:endParaRPr lang="en-US" sz="1850" dirty="0"/>
          </a:p>
        </p:txBody>
      </p:sp>
      <p:sp>
        <p:nvSpPr>
          <p:cNvPr id="19" name="Text 15"/>
          <p:cNvSpPr/>
          <p:nvPr/>
        </p:nvSpPr>
        <p:spPr>
          <a:xfrm>
            <a:off x="6748272" y="27889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networks, data, and infrastructure end to end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748272" y="3319272"/>
            <a:ext cx="1345997" cy="384048"/>
          </a:xfrm>
          <a:prstGeom prst="roundRect">
            <a:avLst>
              <a:gd name="adj" fmla="val 14286"/>
            </a:avLst>
          </a:prstGeom>
          <a:solidFill>
            <a:srgbClr val="FEE2E2"/>
          </a:solidFill>
          <a:ln/>
        </p:spPr>
      </p:sp>
      <p:sp>
        <p:nvSpPr>
          <p:cNvPr id="21" name="Text 17"/>
          <p:cNvSpPr/>
          <p:nvPr/>
        </p:nvSpPr>
        <p:spPr>
          <a:xfrm>
            <a:off x="6748272" y="3319272"/>
            <a:ext cx="1345997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Engineer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222285" y="3319272"/>
            <a:ext cx="1495958" cy="384048"/>
          </a:xfrm>
          <a:prstGeom prst="roundRect">
            <a:avLst>
              <a:gd name="adj" fmla="val 14286"/>
            </a:avLst>
          </a:prstGeom>
          <a:solidFill>
            <a:srgbClr val="FEE2E2"/>
          </a:solidFill>
          <a:ln/>
        </p:spPr>
      </p:sp>
      <p:sp>
        <p:nvSpPr>
          <p:cNvPr id="23" name="Text 19"/>
          <p:cNvSpPr/>
          <p:nvPr/>
        </p:nvSpPr>
        <p:spPr>
          <a:xfrm>
            <a:off x="8222285" y="3319272"/>
            <a:ext cx="1495958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Engineer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58368" y="4178808"/>
            <a:ext cx="544068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F172A">
                <a:alpha val="12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4178808"/>
            <a:ext cx="118872" cy="22128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Shape 22"/>
          <p:cNvSpPr/>
          <p:nvPr/>
        </p:nvSpPr>
        <p:spPr>
          <a:xfrm>
            <a:off x="969264" y="4471416"/>
            <a:ext cx="713232" cy="713232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4636008"/>
            <a:ext cx="384048" cy="38404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1828800" y="4471416"/>
            <a:ext cx="4069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</a:t>
            </a:r>
            <a:endParaRPr lang="en-US" sz="1850" dirty="0"/>
          </a:p>
        </p:txBody>
      </p:sp>
      <p:sp>
        <p:nvSpPr>
          <p:cNvPr id="29" name="Text 24"/>
          <p:cNvSpPr/>
          <p:nvPr/>
        </p:nvSpPr>
        <p:spPr>
          <a:xfrm>
            <a:off x="987552" y="527608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intelligent systems that perceive, reason, and act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987552" y="5806440"/>
            <a:ext cx="1345997" cy="384048"/>
          </a:xfrm>
          <a:prstGeom prst="roundRect">
            <a:avLst>
              <a:gd name="adj" fmla="val 14286"/>
            </a:avLst>
          </a:prstGeom>
          <a:solidFill>
            <a:srgbClr val="EDE9FE"/>
          </a:solidFill>
          <a:ln/>
        </p:spPr>
      </p:sp>
      <p:sp>
        <p:nvSpPr>
          <p:cNvPr id="31" name="Text 26"/>
          <p:cNvSpPr/>
          <p:nvPr/>
        </p:nvSpPr>
        <p:spPr>
          <a:xfrm>
            <a:off x="987552" y="5806440"/>
            <a:ext cx="1345997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AI Engineer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2461565" y="5806440"/>
            <a:ext cx="1196035" cy="384048"/>
          </a:xfrm>
          <a:prstGeom prst="roundRect">
            <a:avLst>
              <a:gd name="adj" fmla="val 14286"/>
            </a:avLst>
          </a:prstGeom>
          <a:solidFill>
            <a:srgbClr val="EDE9FE"/>
          </a:solidFill>
          <a:ln/>
        </p:spPr>
      </p:sp>
      <p:sp>
        <p:nvSpPr>
          <p:cNvPr id="33" name="Text 28"/>
          <p:cNvSpPr/>
          <p:nvPr/>
        </p:nvSpPr>
        <p:spPr>
          <a:xfrm>
            <a:off x="2461565" y="5806440"/>
            <a:ext cx="1196035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419088" y="4178808"/>
            <a:ext cx="544068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0F172A">
                <a:alpha val="12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6419088" y="4178808"/>
            <a:ext cx="118872" cy="221284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6" name="Shape 31"/>
          <p:cNvSpPr/>
          <p:nvPr/>
        </p:nvSpPr>
        <p:spPr>
          <a:xfrm>
            <a:off x="6729984" y="4471416"/>
            <a:ext cx="713232" cy="713232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76" y="4636008"/>
            <a:ext cx="384048" cy="384048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7589520" y="4471416"/>
            <a:ext cx="4069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Comp. Finance, Optimization &amp; Quantum</a:t>
            </a:r>
            <a:endParaRPr lang="en-US" sz="1850" dirty="0"/>
          </a:p>
        </p:txBody>
      </p:sp>
      <p:sp>
        <p:nvSpPr>
          <p:cNvPr id="39" name="Text 33"/>
          <p:cNvSpPr/>
          <p:nvPr/>
        </p:nvSpPr>
        <p:spPr>
          <a:xfrm>
            <a:off x="6748272" y="527608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modeling, optimization, and quantum algorithms</a:t>
            </a:r>
            <a:endParaRPr lang="en-US" sz="1300" dirty="0"/>
          </a:p>
        </p:txBody>
      </p:sp>
      <p:sp>
        <p:nvSpPr>
          <p:cNvPr id="40" name="Shape 34"/>
          <p:cNvSpPr/>
          <p:nvPr/>
        </p:nvSpPr>
        <p:spPr>
          <a:xfrm>
            <a:off x="6748272" y="5806440"/>
            <a:ext cx="2170786" cy="384048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/>
        </p:spPr>
      </p:sp>
      <p:sp>
        <p:nvSpPr>
          <p:cNvPr id="41" name="Text 35"/>
          <p:cNvSpPr/>
          <p:nvPr/>
        </p:nvSpPr>
        <p:spPr>
          <a:xfrm>
            <a:off x="6748272" y="5806440"/>
            <a:ext cx="2170786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Software Engineer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9047074" y="5806440"/>
            <a:ext cx="1795882" cy="384048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/>
        </p:spPr>
      </p:sp>
      <p:sp>
        <p:nvSpPr>
          <p:cNvPr id="43" name="Text 37"/>
          <p:cNvSpPr/>
          <p:nvPr/>
        </p:nvSpPr>
        <p:spPr>
          <a:xfrm>
            <a:off x="9047074" y="5806440"/>
            <a:ext cx="1795882" cy="384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Algo-Trading Developer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F172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40080"/>
            <a:ext cx="1051560" cy="1051560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88696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920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CONCENTRATION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" y="224028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Engineering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66928" y="3977640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operate the systems the world runs on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4892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CAREER ROLES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3504" y="5193792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Software Developer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Engineer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Engineer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26280" y="56692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Designated Courses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4526280" y="1115568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courses define this track; remaining catalog courses count as electives.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26280" y="1709928"/>
            <a:ext cx="256032" cy="25603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1"/>
          <p:cNvSpPr/>
          <p:nvPr/>
        </p:nvSpPr>
        <p:spPr>
          <a:xfrm>
            <a:off x="4526280" y="17099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92040" y="16916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FOUNDATION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098280" y="169164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 – A4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26280" y="21122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DB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4526280" y="2112264"/>
            <a:ext cx="64008" cy="42062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Text 16"/>
          <p:cNvSpPr/>
          <p:nvPr/>
        </p:nvSpPr>
        <p:spPr>
          <a:xfrm>
            <a:off x="4690872" y="21122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239512" y="21122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Cloud-Native Platforms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835640" y="21122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SE1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26280" y="25694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DBEAFE"/>
          </a:solidFill>
          <a:ln/>
        </p:spPr>
      </p:sp>
      <p:sp>
        <p:nvSpPr>
          <p:cNvPr id="23" name="Shape 20"/>
          <p:cNvSpPr/>
          <p:nvPr/>
        </p:nvSpPr>
        <p:spPr>
          <a:xfrm>
            <a:off x="4526280" y="2569464"/>
            <a:ext cx="64008" cy="42062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4" name="Text 21"/>
          <p:cNvSpPr/>
          <p:nvPr/>
        </p:nvSpPr>
        <p:spPr>
          <a:xfrm>
            <a:off x="4690872" y="25694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239512" y="25694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&amp; Reliable Software Development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0835640" y="25694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SE2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26280" y="30266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DBEAFE"/>
          </a:solidFill>
          <a:ln/>
        </p:spPr>
      </p:sp>
      <p:sp>
        <p:nvSpPr>
          <p:cNvPr id="28" name="Shape 25"/>
          <p:cNvSpPr/>
          <p:nvPr/>
        </p:nvSpPr>
        <p:spPr>
          <a:xfrm>
            <a:off x="4526280" y="3026664"/>
            <a:ext cx="64008" cy="42062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9" name="Text 26"/>
          <p:cNvSpPr/>
          <p:nvPr/>
        </p:nvSpPr>
        <p:spPr>
          <a:xfrm>
            <a:off x="4690872" y="30266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239512" y="30266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&amp; Agentic Systems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0835640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AI1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26280" y="34838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DBEAFE"/>
          </a:solidFill>
          <a:ln/>
        </p:spPr>
      </p:sp>
      <p:sp>
        <p:nvSpPr>
          <p:cNvPr id="33" name="Shape 30"/>
          <p:cNvSpPr/>
          <p:nvPr/>
        </p:nvSpPr>
        <p:spPr>
          <a:xfrm>
            <a:off x="4526280" y="3483864"/>
            <a:ext cx="64008" cy="42062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4" name="Text 31"/>
          <p:cNvSpPr/>
          <p:nvPr/>
        </p:nvSpPr>
        <p:spPr>
          <a:xfrm>
            <a:off x="4690872" y="34838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239512" y="34838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Front-End Web Development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10835640" y="34838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SE3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26280" y="4160520"/>
            <a:ext cx="256032" cy="25603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8" name="Text 35"/>
          <p:cNvSpPr/>
          <p:nvPr/>
        </p:nvSpPr>
        <p:spPr>
          <a:xfrm>
            <a:off x="4526280" y="416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4892040" y="41422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ADVANCED DEPTH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14223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 – B4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526280" y="45628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42" name="Shape 39"/>
          <p:cNvSpPr/>
          <p:nvPr/>
        </p:nvSpPr>
        <p:spPr>
          <a:xfrm>
            <a:off x="4526280" y="4562856"/>
            <a:ext cx="64008" cy="42062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3" name="Text 40"/>
          <p:cNvSpPr/>
          <p:nvPr/>
        </p:nvSpPr>
        <p:spPr>
          <a:xfrm>
            <a:off x="4690872" y="45628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5239512" y="45628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Web Development &amp; APIs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10835640" y="45628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526280" y="50200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4526280" y="5020056"/>
            <a:ext cx="64008" cy="42062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8" name="Text 45"/>
          <p:cNvSpPr/>
          <p:nvPr/>
        </p:nvSpPr>
        <p:spPr>
          <a:xfrm>
            <a:off x="4690872" y="50200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5239512" y="50200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Ops of AI Systems (DevOps/MLOps)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10835640" y="50200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SE5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26280" y="54772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52" name="Shape 49"/>
          <p:cNvSpPr/>
          <p:nvPr/>
        </p:nvSpPr>
        <p:spPr>
          <a:xfrm>
            <a:off x="4526280" y="5477256"/>
            <a:ext cx="64008" cy="42062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3" name="Text 50"/>
          <p:cNvSpPr/>
          <p:nvPr/>
        </p:nvSpPr>
        <p:spPr>
          <a:xfrm>
            <a:off x="4690872" y="54772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B3</a:t>
            </a:r>
            <a:endParaRPr lang="en-US" sz="1250" dirty="0"/>
          </a:p>
        </p:txBody>
      </p:sp>
      <p:sp>
        <p:nvSpPr>
          <p:cNvPr id="54" name="Text 51"/>
          <p:cNvSpPr/>
          <p:nvPr/>
        </p:nvSpPr>
        <p:spPr>
          <a:xfrm>
            <a:off x="5239512" y="54772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Mobile, IoT &amp; Edge Software Development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10835640" y="54772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SE6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4526280" y="59344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57" name="Shape 54"/>
          <p:cNvSpPr/>
          <p:nvPr/>
        </p:nvSpPr>
        <p:spPr>
          <a:xfrm>
            <a:off x="4526280" y="5934456"/>
            <a:ext cx="64008" cy="42062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8" name="Text 55"/>
          <p:cNvSpPr/>
          <p:nvPr/>
        </p:nvSpPr>
        <p:spPr>
          <a:xfrm>
            <a:off x="4690872" y="59344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B4</a:t>
            </a:r>
            <a:endParaRPr lang="en-US" sz="1250" dirty="0"/>
          </a:p>
        </p:txBody>
      </p:sp>
      <p:sp>
        <p:nvSpPr>
          <p:cNvPr id="59" name="Text 56"/>
          <p:cNvSpPr/>
          <p:nvPr/>
        </p:nvSpPr>
        <p:spPr>
          <a:xfrm>
            <a:off x="5239512" y="59344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AI-based &amp; Data-Intensive Systems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0835640" y="59344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SE7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F172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40080"/>
            <a:ext cx="1051560" cy="1051560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88696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920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CONCENTRATION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" y="224028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Networking &amp; Cyber Security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66928" y="3977640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networks, data, and infrastructure end to end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4892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CAREER ROLES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3504" y="5193792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Engineer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Engineer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26280" y="56692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Designated Courses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4526280" y="1115568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courses define this track; remaining catalog courses count as electives.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26280" y="1709928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4" name="Text 11"/>
          <p:cNvSpPr/>
          <p:nvPr/>
        </p:nvSpPr>
        <p:spPr>
          <a:xfrm>
            <a:off x="4526280" y="17099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92040" y="16916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FOUNDATION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098280" y="169164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 – A4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26280" y="21122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EE2E2"/>
          </a:solidFill>
          <a:ln/>
        </p:spPr>
      </p:sp>
      <p:sp>
        <p:nvSpPr>
          <p:cNvPr id="18" name="Shape 15"/>
          <p:cNvSpPr/>
          <p:nvPr/>
        </p:nvSpPr>
        <p:spPr>
          <a:xfrm>
            <a:off x="4526280" y="2112264"/>
            <a:ext cx="64008" cy="42062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6"/>
          <p:cNvSpPr/>
          <p:nvPr/>
        </p:nvSpPr>
        <p:spPr>
          <a:xfrm>
            <a:off x="4690872" y="21122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239512" y="21122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Cloud-Native Platforms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835640" y="21122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SE1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26280" y="25694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EE2E2"/>
          </a:solidFill>
          <a:ln/>
        </p:spPr>
      </p:sp>
      <p:sp>
        <p:nvSpPr>
          <p:cNvPr id="23" name="Shape 20"/>
          <p:cNvSpPr/>
          <p:nvPr/>
        </p:nvSpPr>
        <p:spPr>
          <a:xfrm>
            <a:off x="4526280" y="2569464"/>
            <a:ext cx="64008" cy="42062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4" name="Text 21"/>
          <p:cNvSpPr/>
          <p:nvPr/>
        </p:nvSpPr>
        <p:spPr>
          <a:xfrm>
            <a:off x="4690872" y="25694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239512" y="25694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&amp; Reliable Software Development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0835640" y="25694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SE2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26280" y="30266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EE2E2"/>
          </a:solidFill>
          <a:ln/>
        </p:spPr>
      </p:sp>
      <p:sp>
        <p:nvSpPr>
          <p:cNvPr id="28" name="Shape 25"/>
          <p:cNvSpPr/>
          <p:nvPr/>
        </p:nvSpPr>
        <p:spPr>
          <a:xfrm>
            <a:off x="4526280" y="3026664"/>
            <a:ext cx="64008" cy="42062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6"/>
          <p:cNvSpPr/>
          <p:nvPr/>
        </p:nvSpPr>
        <p:spPr>
          <a:xfrm>
            <a:off x="4690872" y="30266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239512" y="30266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&amp; Agentic Systems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0835640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AI1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26280" y="34838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EE2E2"/>
          </a:solidFill>
          <a:ln/>
        </p:spPr>
      </p:sp>
      <p:sp>
        <p:nvSpPr>
          <p:cNvPr id="33" name="Shape 30"/>
          <p:cNvSpPr/>
          <p:nvPr/>
        </p:nvSpPr>
        <p:spPr>
          <a:xfrm>
            <a:off x="4526280" y="3483864"/>
            <a:ext cx="64008" cy="42062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" name="Text 31"/>
          <p:cNvSpPr/>
          <p:nvPr/>
        </p:nvSpPr>
        <p:spPr>
          <a:xfrm>
            <a:off x="4690872" y="34838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239512" y="34838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Cryptography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10835640" y="34838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CY1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26280" y="4160520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8" name="Text 35"/>
          <p:cNvSpPr/>
          <p:nvPr/>
        </p:nvSpPr>
        <p:spPr>
          <a:xfrm>
            <a:off x="4526280" y="416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4892040" y="41422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ADVANCED DEPTH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14223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 – B4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526280" y="45628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42" name="Shape 39"/>
          <p:cNvSpPr/>
          <p:nvPr/>
        </p:nvSpPr>
        <p:spPr>
          <a:xfrm>
            <a:off x="4526280" y="4562856"/>
            <a:ext cx="64008" cy="42062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0"/>
          <p:cNvSpPr/>
          <p:nvPr/>
        </p:nvSpPr>
        <p:spPr>
          <a:xfrm>
            <a:off x="4690872" y="45628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5239512" y="45628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Ops of AI Systems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10835640" y="45628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SE5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526280" y="50200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4526280" y="5020056"/>
            <a:ext cx="64008" cy="42062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8" name="Text 45"/>
          <p:cNvSpPr/>
          <p:nvPr/>
        </p:nvSpPr>
        <p:spPr>
          <a:xfrm>
            <a:off x="4690872" y="50200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5239512" y="50200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Embedded Systems Security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10835640" y="50200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CY3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26280" y="54772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52" name="Shape 49"/>
          <p:cNvSpPr/>
          <p:nvPr/>
        </p:nvSpPr>
        <p:spPr>
          <a:xfrm>
            <a:off x="4526280" y="5477256"/>
            <a:ext cx="64008" cy="42062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3" name="Text 50"/>
          <p:cNvSpPr/>
          <p:nvPr/>
        </p:nvSpPr>
        <p:spPr>
          <a:xfrm>
            <a:off x="4690872" y="54772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B3</a:t>
            </a:r>
            <a:endParaRPr lang="en-US" sz="1250" dirty="0"/>
          </a:p>
        </p:txBody>
      </p:sp>
      <p:sp>
        <p:nvSpPr>
          <p:cNvPr id="54" name="Text 51"/>
          <p:cNvSpPr/>
          <p:nvPr/>
        </p:nvSpPr>
        <p:spPr>
          <a:xfrm>
            <a:off x="5239512" y="54772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Governance, Risk &amp; Compliance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10835640" y="54772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CY4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4526280" y="59344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57" name="Shape 54"/>
          <p:cNvSpPr/>
          <p:nvPr/>
        </p:nvSpPr>
        <p:spPr>
          <a:xfrm>
            <a:off x="4526280" y="5934456"/>
            <a:ext cx="64008" cy="42062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8" name="Text 55"/>
          <p:cNvSpPr/>
          <p:nvPr/>
        </p:nvSpPr>
        <p:spPr>
          <a:xfrm>
            <a:off x="4690872" y="59344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B4</a:t>
            </a:r>
            <a:endParaRPr lang="en-US" sz="1250" dirty="0"/>
          </a:p>
        </p:txBody>
      </p:sp>
      <p:sp>
        <p:nvSpPr>
          <p:cNvPr id="59" name="Text 56"/>
          <p:cNvSpPr/>
          <p:nvPr/>
        </p:nvSpPr>
        <p:spPr>
          <a:xfrm>
            <a:off x="5239512" y="59344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&amp; Decentralized Systems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0835640" y="59344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F172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40080"/>
            <a:ext cx="1051560" cy="1051560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88696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920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CONCENTRATION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" y="224028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Artificial Intelligence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66928" y="3977640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intelligent systems that perceive, reason, and act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4892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CAREER ROLES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3504" y="5193792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AI Engineer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Scientist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26280" y="56692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Designated Courses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4526280" y="1115568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courses define this track; remaining catalog courses count as electives.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26280" y="1709928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1"/>
          <p:cNvSpPr/>
          <p:nvPr/>
        </p:nvSpPr>
        <p:spPr>
          <a:xfrm>
            <a:off x="4526280" y="17099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92040" y="16916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FOUNDATION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098280" y="169164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 – A4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26280" y="21122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EDE9FE"/>
          </a:solidFill>
          <a:ln/>
        </p:spPr>
      </p:sp>
      <p:sp>
        <p:nvSpPr>
          <p:cNvPr id="18" name="Shape 15"/>
          <p:cNvSpPr/>
          <p:nvPr/>
        </p:nvSpPr>
        <p:spPr>
          <a:xfrm>
            <a:off x="4526280" y="2112264"/>
            <a:ext cx="64008" cy="4206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6"/>
          <p:cNvSpPr/>
          <p:nvPr/>
        </p:nvSpPr>
        <p:spPr>
          <a:xfrm>
            <a:off x="4690872" y="21122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239512" y="21122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&amp; Agentic Systems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835640" y="21122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AI1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26280" y="25694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EDE9FE"/>
          </a:solidFill>
          <a:ln/>
        </p:spPr>
      </p:sp>
      <p:sp>
        <p:nvSpPr>
          <p:cNvPr id="23" name="Shape 20"/>
          <p:cNvSpPr/>
          <p:nvPr/>
        </p:nvSpPr>
        <p:spPr>
          <a:xfrm>
            <a:off x="4526280" y="2569464"/>
            <a:ext cx="64008" cy="4206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1"/>
          <p:cNvSpPr/>
          <p:nvPr/>
        </p:nvSpPr>
        <p:spPr>
          <a:xfrm>
            <a:off x="4690872" y="25694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239512" y="25694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AI: Time Series &amp; Decisions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0835640" y="25694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AI2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26280" y="30266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EDE9FE"/>
          </a:solidFill>
          <a:ln/>
        </p:spPr>
      </p:sp>
      <p:sp>
        <p:nvSpPr>
          <p:cNvPr id="28" name="Shape 25"/>
          <p:cNvSpPr/>
          <p:nvPr/>
        </p:nvSpPr>
        <p:spPr>
          <a:xfrm>
            <a:off x="4526280" y="3026664"/>
            <a:ext cx="64008" cy="4206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6"/>
          <p:cNvSpPr/>
          <p:nvPr/>
        </p:nvSpPr>
        <p:spPr>
          <a:xfrm>
            <a:off x="4690872" y="30266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239512" y="30266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AI: Deep Learning for Vision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0835640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AI3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26280" y="34838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EDE9FE"/>
          </a:solidFill>
          <a:ln/>
        </p:spPr>
      </p:sp>
      <p:sp>
        <p:nvSpPr>
          <p:cNvPr id="33" name="Shape 30"/>
          <p:cNvSpPr/>
          <p:nvPr/>
        </p:nvSpPr>
        <p:spPr>
          <a:xfrm>
            <a:off x="4526280" y="3483864"/>
            <a:ext cx="64008" cy="4206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4" name="Text 31"/>
          <p:cNvSpPr/>
          <p:nvPr/>
        </p:nvSpPr>
        <p:spPr>
          <a:xfrm>
            <a:off x="4690872" y="34838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239512" y="34838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AI: Big-Data Algorithms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10835640" y="34838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AI4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26280" y="4160520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8" name="Text 35"/>
          <p:cNvSpPr/>
          <p:nvPr/>
        </p:nvSpPr>
        <p:spPr>
          <a:xfrm>
            <a:off x="4526280" y="416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4892040" y="41422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ADVANCED DEPTH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14223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 – B4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526280" y="45628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42" name="Shape 39"/>
          <p:cNvSpPr/>
          <p:nvPr/>
        </p:nvSpPr>
        <p:spPr>
          <a:xfrm>
            <a:off x="4526280" y="4562856"/>
            <a:ext cx="64008" cy="4206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3" name="Text 40"/>
          <p:cNvSpPr/>
          <p:nvPr/>
        </p:nvSpPr>
        <p:spPr>
          <a:xfrm>
            <a:off x="4690872" y="45628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5239512" y="45628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Ops of AI Systems (MLOps/LLMOps)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10835640" y="45628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SE5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526280" y="50200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4526280" y="5020056"/>
            <a:ext cx="64008" cy="4206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8" name="Text 45"/>
          <p:cNvSpPr/>
          <p:nvPr/>
        </p:nvSpPr>
        <p:spPr>
          <a:xfrm>
            <a:off x="4690872" y="50200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5239512" y="50200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AI-based &amp; Data-Intensive Systems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10835640" y="50200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SE7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26280" y="54772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52" name="Shape 49"/>
          <p:cNvSpPr/>
          <p:nvPr/>
        </p:nvSpPr>
        <p:spPr>
          <a:xfrm>
            <a:off x="4526280" y="5477256"/>
            <a:ext cx="64008" cy="4206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3" name="Text 50"/>
          <p:cNvSpPr/>
          <p:nvPr/>
        </p:nvSpPr>
        <p:spPr>
          <a:xfrm>
            <a:off x="4690872" y="54772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B3</a:t>
            </a:r>
            <a:endParaRPr lang="en-US" sz="1250" dirty="0"/>
          </a:p>
        </p:txBody>
      </p:sp>
      <p:sp>
        <p:nvSpPr>
          <p:cNvPr id="54" name="Text 51"/>
          <p:cNvSpPr/>
          <p:nvPr/>
        </p:nvSpPr>
        <p:spPr>
          <a:xfrm>
            <a:off x="5239512" y="54772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AI: Deep Generative Models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10835640" y="54772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AI5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4526280" y="59344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57" name="Shape 54"/>
          <p:cNvSpPr/>
          <p:nvPr/>
        </p:nvSpPr>
        <p:spPr>
          <a:xfrm>
            <a:off x="4526280" y="5934456"/>
            <a:ext cx="64008" cy="42062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8" name="Text 55"/>
          <p:cNvSpPr/>
          <p:nvPr/>
        </p:nvSpPr>
        <p:spPr>
          <a:xfrm>
            <a:off x="4690872" y="59344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B4</a:t>
            </a:r>
            <a:endParaRPr lang="en-US" sz="1250" dirty="0"/>
          </a:p>
        </p:txBody>
      </p:sp>
      <p:sp>
        <p:nvSpPr>
          <p:cNvPr id="59" name="Text 56"/>
          <p:cNvSpPr/>
          <p:nvPr/>
        </p:nvSpPr>
        <p:spPr>
          <a:xfrm>
            <a:off x="5239512" y="59344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Embodied AI: Robotics &amp; Autonomous Systems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0835640" y="59344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F172A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40080"/>
            <a:ext cx="1051560" cy="1051560"/>
          </a:xfrm>
          <a:prstGeom prst="ellipse">
            <a:avLst/>
          </a:prstGeom>
          <a:solidFill>
            <a:srgbClr val="FFFFFF">
              <a:alpha val="14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88696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920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CONCENTRATION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" y="2240280"/>
            <a:ext cx="32918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Comp. Finance, Optimization &amp; Quantum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66928" y="3977640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modeling, optimization, and quantum algorithms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4892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CAREER ROLES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3504" y="5193792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Software Engineer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Algo-Trading Developer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 Analyst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26280" y="566928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Designated Courses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4526280" y="1115568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courses define this track; remaining catalog courses count as electives.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526280" y="1709928"/>
            <a:ext cx="256032" cy="25603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1"/>
          <p:cNvSpPr/>
          <p:nvPr/>
        </p:nvSpPr>
        <p:spPr>
          <a:xfrm>
            <a:off x="4526280" y="17099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92040" y="16916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FOUNDATION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098280" y="169164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 – A4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26280" y="21122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EF3C7"/>
          </a:solidFill>
          <a:ln/>
        </p:spPr>
      </p:sp>
      <p:sp>
        <p:nvSpPr>
          <p:cNvPr id="18" name="Shape 15"/>
          <p:cNvSpPr/>
          <p:nvPr/>
        </p:nvSpPr>
        <p:spPr>
          <a:xfrm>
            <a:off x="4526280" y="2112264"/>
            <a:ext cx="64008" cy="42062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Text 16"/>
          <p:cNvSpPr/>
          <p:nvPr/>
        </p:nvSpPr>
        <p:spPr>
          <a:xfrm>
            <a:off x="4690872" y="21122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239512" y="21122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Cloud-Native Platforms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0835640" y="21122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SE1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26280" y="25694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EF3C7"/>
          </a:solidFill>
          <a:ln/>
        </p:spPr>
      </p:sp>
      <p:sp>
        <p:nvSpPr>
          <p:cNvPr id="23" name="Shape 20"/>
          <p:cNvSpPr/>
          <p:nvPr/>
        </p:nvSpPr>
        <p:spPr>
          <a:xfrm>
            <a:off x="4526280" y="2569464"/>
            <a:ext cx="64008" cy="42062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1"/>
          <p:cNvSpPr/>
          <p:nvPr/>
        </p:nvSpPr>
        <p:spPr>
          <a:xfrm>
            <a:off x="4690872" y="25694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A2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239512" y="25694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&amp; Agentic Systems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0835640" y="25694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26280" y="30266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EF3C7"/>
          </a:solidFill>
          <a:ln/>
        </p:spPr>
      </p:sp>
      <p:sp>
        <p:nvSpPr>
          <p:cNvPr id="28" name="Shape 25"/>
          <p:cNvSpPr/>
          <p:nvPr/>
        </p:nvSpPr>
        <p:spPr>
          <a:xfrm>
            <a:off x="4526280" y="3026664"/>
            <a:ext cx="64008" cy="42062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Text 26"/>
          <p:cNvSpPr/>
          <p:nvPr/>
        </p:nvSpPr>
        <p:spPr>
          <a:xfrm>
            <a:off x="4690872" y="30266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239512" y="30266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Cryptography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0835640" y="30266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CY1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26280" y="3483864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EF3C7"/>
          </a:solidFill>
          <a:ln/>
        </p:spPr>
      </p:sp>
      <p:sp>
        <p:nvSpPr>
          <p:cNvPr id="33" name="Shape 30"/>
          <p:cNvSpPr/>
          <p:nvPr/>
        </p:nvSpPr>
        <p:spPr>
          <a:xfrm>
            <a:off x="4526280" y="3483864"/>
            <a:ext cx="64008" cy="42062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1"/>
          <p:cNvSpPr/>
          <p:nvPr/>
        </p:nvSpPr>
        <p:spPr>
          <a:xfrm>
            <a:off x="4690872" y="3483864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A4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239512" y="348386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AI: Time Series &amp; Decisions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10835640" y="3483864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AI2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26280" y="4160520"/>
            <a:ext cx="256032" cy="25603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8" name="Text 35"/>
          <p:cNvSpPr/>
          <p:nvPr/>
        </p:nvSpPr>
        <p:spPr>
          <a:xfrm>
            <a:off x="4526280" y="4160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4892040" y="414223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ADVANCED DEPTH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14223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 – B4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526280" y="45628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42" name="Shape 39"/>
          <p:cNvSpPr/>
          <p:nvPr/>
        </p:nvSpPr>
        <p:spPr>
          <a:xfrm>
            <a:off x="4526280" y="4562856"/>
            <a:ext cx="64008" cy="42062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0"/>
          <p:cNvSpPr/>
          <p:nvPr/>
        </p:nvSpPr>
        <p:spPr>
          <a:xfrm>
            <a:off x="4690872" y="45628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5239512" y="45628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AI-based &amp; Data-Intensive Systems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10835640" y="45628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SE7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526280" y="50200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47" name="Shape 44"/>
          <p:cNvSpPr/>
          <p:nvPr/>
        </p:nvSpPr>
        <p:spPr>
          <a:xfrm>
            <a:off x="4526280" y="5020056"/>
            <a:ext cx="64008" cy="42062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8" name="Text 45"/>
          <p:cNvSpPr/>
          <p:nvPr/>
        </p:nvSpPr>
        <p:spPr>
          <a:xfrm>
            <a:off x="4690872" y="50200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5239512" y="50200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&amp; Decentralized Systems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10835640" y="50200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CY5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26280" y="54772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52" name="Shape 49"/>
          <p:cNvSpPr/>
          <p:nvPr/>
        </p:nvSpPr>
        <p:spPr>
          <a:xfrm>
            <a:off x="4526280" y="5477256"/>
            <a:ext cx="64008" cy="42062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3" name="Text 50"/>
          <p:cNvSpPr/>
          <p:nvPr/>
        </p:nvSpPr>
        <p:spPr>
          <a:xfrm>
            <a:off x="4690872" y="54772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B3</a:t>
            </a:r>
            <a:endParaRPr lang="en-US" sz="1250" dirty="0"/>
          </a:p>
        </p:txBody>
      </p:sp>
      <p:sp>
        <p:nvSpPr>
          <p:cNvPr id="54" name="Text 51"/>
          <p:cNvSpPr/>
          <p:nvPr/>
        </p:nvSpPr>
        <p:spPr>
          <a:xfrm>
            <a:off x="5239512" y="54772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Optimization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10835640" y="54772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QCF1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4526280" y="5934456"/>
            <a:ext cx="7178040" cy="420624"/>
          </a:xfrm>
          <a:prstGeom prst="roundRect">
            <a:avLst>
              <a:gd name="adj" fmla="val 10870"/>
            </a:avLst>
          </a:prstGeom>
          <a:solidFill>
            <a:srgbClr val="F1F5F9"/>
          </a:solidFill>
          <a:ln/>
        </p:spPr>
      </p:sp>
      <p:sp>
        <p:nvSpPr>
          <p:cNvPr id="57" name="Shape 54"/>
          <p:cNvSpPr/>
          <p:nvPr/>
        </p:nvSpPr>
        <p:spPr>
          <a:xfrm>
            <a:off x="4526280" y="5934456"/>
            <a:ext cx="64008" cy="42062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8" name="Text 55"/>
          <p:cNvSpPr/>
          <p:nvPr/>
        </p:nvSpPr>
        <p:spPr>
          <a:xfrm>
            <a:off x="4690872" y="5934456"/>
            <a:ext cx="502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B4</a:t>
            </a:r>
            <a:endParaRPr lang="en-US" sz="1250" dirty="0"/>
          </a:p>
        </p:txBody>
      </p:sp>
      <p:sp>
        <p:nvSpPr>
          <p:cNvPr id="59" name="Text 56"/>
          <p:cNvSpPr/>
          <p:nvPr/>
        </p:nvSpPr>
        <p:spPr>
          <a:xfrm>
            <a:off x="5239512" y="593445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Optimization for Finance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0835640" y="59344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QCF2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Course Catalog &amp; Track 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950976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catalog feeds every concentration. A cell shows the role a course plays in each track: a core (A) or advanced (B) requirement, or an elective.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21208" y="1463040"/>
            <a:ext cx="1737360" cy="310896"/>
          </a:xfrm>
          <a:prstGeom prst="roundRect">
            <a:avLst>
              <a:gd name="adj" fmla="val 11765"/>
            </a:avLst>
          </a:prstGeom>
          <a:solidFill>
            <a:srgbClr val="0F172A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21208" y="14630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· Core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95728" y="1463040"/>
            <a:ext cx="1737360" cy="310896"/>
          </a:xfrm>
          <a:prstGeom prst="roundRect">
            <a:avLst>
              <a:gd name="adj" fmla="val 11765"/>
            </a:avLst>
          </a:prstGeom>
          <a:solidFill>
            <a:srgbClr val="94A3B8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95728" y="14630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· Advanced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70248" y="1463040"/>
            <a:ext cx="1737360" cy="310896"/>
          </a:xfrm>
          <a:prstGeom prst="roundRect">
            <a:avLst>
              <a:gd name="adj" fmla="val 11765"/>
            </a:avLst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70248" y="14630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Elective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1208" y="1938528"/>
            <a:ext cx="566928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" y="1938528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88136" y="1938528"/>
            <a:ext cx="5806440" cy="3657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1088136" y="1938528"/>
            <a:ext cx="5806440" cy="3657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94576" y="1938528"/>
            <a:ext cx="1078992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6894576" y="193852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73568" y="1938528"/>
            <a:ext cx="1078992" cy="3657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5"/>
          <p:cNvSpPr/>
          <p:nvPr/>
        </p:nvSpPr>
        <p:spPr>
          <a:xfrm>
            <a:off x="7973568" y="193852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Cyber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52560" y="1938528"/>
            <a:ext cx="1078992" cy="3657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9052560" y="193852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131552" y="1938528"/>
            <a:ext cx="1078992" cy="3657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10131552" y="1938528"/>
            <a:ext cx="1078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QCF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1208" y="2304288"/>
            <a:ext cx="566928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" y="2304288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088136" y="2304288"/>
            <a:ext cx="5806440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33856" y="2304288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 &amp; Cloud-Native Platforms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894576" y="2304288"/>
            <a:ext cx="1078992" cy="213970"/>
          </a:xfrm>
          <a:prstGeom prst="rect">
            <a:avLst/>
          </a:prstGeom>
          <a:solidFill>
            <a:srgbClr val="2563E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94576" y="2304288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973568" y="2304288"/>
            <a:ext cx="1078992" cy="213970"/>
          </a:xfrm>
          <a:prstGeom prst="rect">
            <a:avLst/>
          </a:prstGeom>
          <a:solidFill>
            <a:srgbClr val="DC262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73568" y="2304288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052560" y="2304288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052560" y="2304288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0131552" y="2304288"/>
            <a:ext cx="1078992" cy="213970"/>
          </a:xfrm>
          <a:prstGeom prst="rect">
            <a:avLst/>
          </a:prstGeom>
          <a:solidFill>
            <a:srgbClr val="D9770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131552" y="2304288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1208" y="2518258"/>
            <a:ext cx="566928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1208" y="2518258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SE2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088136" y="2518258"/>
            <a:ext cx="5806440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33856" y="2518258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&amp; Reliable Software Development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894576" y="2518258"/>
            <a:ext cx="1078992" cy="213970"/>
          </a:xfrm>
          <a:prstGeom prst="rect">
            <a:avLst/>
          </a:prstGeom>
          <a:solidFill>
            <a:srgbClr val="2563E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94576" y="2518258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973568" y="2518258"/>
            <a:ext cx="1078992" cy="213970"/>
          </a:xfrm>
          <a:prstGeom prst="rect">
            <a:avLst/>
          </a:prstGeom>
          <a:solidFill>
            <a:srgbClr val="DC262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973568" y="2518258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052560" y="2518258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52560" y="2518258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131552" y="2518258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31552" y="2518258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21208" y="2732227"/>
            <a:ext cx="566928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208" y="2732227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SE3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1088136" y="2732227"/>
            <a:ext cx="5806440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33856" y="2732227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Front-End Web Development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894576" y="2732227"/>
            <a:ext cx="1078992" cy="213970"/>
          </a:xfrm>
          <a:prstGeom prst="rect">
            <a:avLst/>
          </a:prstGeom>
          <a:solidFill>
            <a:srgbClr val="2563E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2732227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973568" y="2732227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973568" y="2732227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052560" y="2732227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52560" y="2732227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0131552" y="2732227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31552" y="2732227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521208" y="2946197"/>
            <a:ext cx="566928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208" y="2946197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SE4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088136" y="2946197"/>
            <a:ext cx="5806440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33856" y="2946197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Web Development &amp; APIs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894576" y="2946197"/>
            <a:ext cx="1078992" cy="21397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94576" y="2946197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7973568" y="2946197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73568" y="2946197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9052560" y="2946197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052560" y="2946197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131552" y="2946197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131552" y="2946197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21208" y="3160166"/>
            <a:ext cx="566928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21208" y="3160166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SE5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1088136" y="3160166"/>
            <a:ext cx="5806440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33856" y="3160166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&amp; Ops of AI Systems (DevOps/MLOps)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6894576" y="3160166"/>
            <a:ext cx="1078992" cy="21397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894576" y="316016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7973568" y="3160166"/>
            <a:ext cx="1078992" cy="21397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973568" y="316016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9052560" y="3160166"/>
            <a:ext cx="1078992" cy="213970"/>
          </a:xfrm>
          <a:prstGeom prst="rect">
            <a:avLst/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052560" y="316016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10131552" y="3160166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31552" y="316016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521208" y="3374136"/>
            <a:ext cx="566928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21208" y="3374136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SE6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1088136" y="3374136"/>
            <a:ext cx="5806440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133856" y="3374136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Mobile, IoT &amp; Edge Software Development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6894576" y="3374136"/>
            <a:ext cx="1078992" cy="21397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894576" y="337413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7973568" y="3374136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973568" y="337413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9052560" y="3374136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052560" y="337413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10131552" y="3374136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131552" y="337413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521208" y="3588106"/>
            <a:ext cx="566928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21208" y="3588106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SE7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1088136" y="3588106"/>
            <a:ext cx="5806440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133856" y="3588106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AI-based &amp; Data-Intensive Systems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6894576" y="3588106"/>
            <a:ext cx="1078992" cy="21397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894576" y="358810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7973568" y="3588106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973568" y="358810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9052560" y="3588106"/>
            <a:ext cx="1078992" cy="213970"/>
          </a:xfrm>
          <a:prstGeom prst="rect">
            <a:avLst/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052560" y="358810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10131552" y="3588106"/>
            <a:ext cx="1078992" cy="21397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131552" y="3588106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521208" y="3802075"/>
            <a:ext cx="566928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21208" y="3802075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CY1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1088136" y="3802075"/>
            <a:ext cx="5806440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133856" y="3802075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Cryptography</a:t>
            </a:r>
            <a:endParaRPr lang="en-US" sz="950" dirty="0"/>
          </a:p>
        </p:txBody>
      </p:sp>
      <p:sp>
        <p:nvSpPr>
          <p:cNvPr id="110" name="Shape 108"/>
          <p:cNvSpPr/>
          <p:nvPr/>
        </p:nvSpPr>
        <p:spPr>
          <a:xfrm>
            <a:off x="6894576" y="3802075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894576" y="3802075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12" name="Shape 110"/>
          <p:cNvSpPr/>
          <p:nvPr/>
        </p:nvSpPr>
        <p:spPr>
          <a:xfrm>
            <a:off x="7973568" y="3802075"/>
            <a:ext cx="1078992" cy="213970"/>
          </a:xfrm>
          <a:prstGeom prst="rect">
            <a:avLst/>
          </a:prstGeom>
          <a:solidFill>
            <a:srgbClr val="DC262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7973568" y="3802075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9052560" y="3802075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052560" y="3802075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16" name="Shape 114"/>
          <p:cNvSpPr/>
          <p:nvPr/>
        </p:nvSpPr>
        <p:spPr>
          <a:xfrm>
            <a:off x="10131552" y="3802075"/>
            <a:ext cx="1078992" cy="213970"/>
          </a:xfrm>
          <a:prstGeom prst="rect">
            <a:avLst/>
          </a:prstGeom>
          <a:solidFill>
            <a:srgbClr val="D9770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131552" y="3802075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521208" y="4016045"/>
            <a:ext cx="566928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21208" y="4016045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CY2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1088136" y="4016045"/>
            <a:ext cx="5806440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33856" y="4016045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&amp; Communication Security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6894576" y="4016045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894576" y="4016045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24" name="Shape 122"/>
          <p:cNvSpPr/>
          <p:nvPr/>
        </p:nvSpPr>
        <p:spPr>
          <a:xfrm>
            <a:off x="7973568" y="4016045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973568" y="4016045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26" name="Shape 124"/>
          <p:cNvSpPr/>
          <p:nvPr/>
        </p:nvSpPr>
        <p:spPr>
          <a:xfrm>
            <a:off x="9052560" y="4016045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052560" y="4016045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28" name="Shape 126"/>
          <p:cNvSpPr/>
          <p:nvPr/>
        </p:nvSpPr>
        <p:spPr>
          <a:xfrm>
            <a:off x="10131552" y="4016045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0131552" y="4016045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30" name="Shape 128"/>
          <p:cNvSpPr/>
          <p:nvPr/>
        </p:nvSpPr>
        <p:spPr>
          <a:xfrm>
            <a:off x="521208" y="4230014"/>
            <a:ext cx="566928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21208" y="4230014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CY3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1088136" y="4230014"/>
            <a:ext cx="5806440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133856" y="4230014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Embedded Systems Security</a:t>
            </a:r>
            <a:endParaRPr lang="en-US" sz="950" dirty="0"/>
          </a:p>
        </p:txBody>
      </p:sp>
      <p:sp>
        <p:nvSpPr>
          <p:cNvPr id="134" name="Shape 132"/>
          <p:cNvSpPr/>
          <p:nvPr/>
        </p:nvSpPr>
        <p:spPr>
          <a:xfrm>
            <a:off x="6894576" y="4230014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894576" y="423001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36" name="Shape 134"/>
          <p:cNvSpPr/>
          <p:nvPr/>
        </p:nvSpPr>
        <p:spPr>
          <a:xfrm>
            <a:off x="7973568" y="4230014"/>
            <a:ext cx="1078992" cy="21397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973568" y="423001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138" name="Shape 136"/>
          <p:cNvSpPr/>
          <p:nvPr/>
        </p:nvSpPr>
        <p:spPr>
          <a:xfrm>
            <a:off x="9052560" y="4230014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9052560" y="423001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40" name="Shape 138"/>
          <p:cNvSpPr/>
          <p:nvPr/>
        </p:nvSpPr>
        <p:spPr>
          <a:xfrm>
            <a:off x="10131552" y="4230014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0131552" y="423001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42" name="Shape 140"/>
          <p:cNvSpPr/>
          <p:nvPr/>
        </p:nvSpPr>
        <p:spPr>
          <a:xfrm>
            <a:off x="521208" y="4443984"/>
            <a:ext cx="566928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21208" y="4443984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CY4</a:t>
            </a:r>
            <a:endParaRPr lang="en-US" sz="850" dirty="0"/>
          </a:p>
        </p:txBody>
      </p:sp>
      <p:sp>
        <p:nvSpPr>
          <p:cNvPr id="144" name="Shape 142"/>
          <p:cNvSpPr/>
          <p:nvPr/>
        </p:nvSpPr>
        <p:spPr>
          <a:xfrm>
            <a:off x="1088136" y="4443984"/>
            <a:ext cx="5806440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1133856" y="4443984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Governance, Risk &amp; Compliance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6894576" y="4443984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6894576" y="444398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48" name="Shape 146"/>
          <p:cNvSpPr/>
          <p:nvPr/>
        </p:nvSpPr>
        <p:spPr>
          <a:xfrm>
            <a:off x="7973568" y="4443984"/>
            <a:ext cx="1078992" cy="21397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973568" y="444398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150" name="Shape 148"/>
          <p:cNvSpPr/>
          <p:nvPr/>
        </p:nvSpPr>
        <p:spPr>
          <a:xfrm>
            <a:off x="9052560" y="4443984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9052560" y="444398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52" name="Shape 150"/>
          <p:cNvSpPr/>
          <p:nvPr/>
        </p:nvSpPr>
        <p:spPr>
          <a:xfrm>
            <a:off x="10131552" y="4443984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0131552" y="444398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521208" y="4657954"/>
            <a:ext cx="566928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521208" y="4657954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CY5</a:t>
            </a:r>
            <a:endParaRPr lang="en-US" sz="850" dirty="0"/>
          </a:p>
        </p:txBody>
      </p:sp>
      <p:sp>
        <p:nvSpPr>
          <p:cNvPr id="156" name="Shape 154"/>
          <p:cNvSpPr/>
          <p:nvPr/>
        </p:nvSpPr>
        <p:spPr>
          <a:xfrm>
            <a:off x="1088136" y="4657954"/>
            <a:ext cx="5806440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133856" y="4657954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&amp; Decentralized Systems</a:t>
            </a:r>
            <a:endParaRPr lang="en-US" sz="950" dirty="0"/>
          </a:p>
        </p:txBody>
      </p:sp>
      <p:sp>
        <p:nvSpPr>
          <p:cNvPr id="158" name="Shape 156"/>
          <p:cNvSpPr/>
          <p:nvPr/>
        </p:nvSpPr>
        <p:spPr>
          <a:xfrm>
            <a:off x="6894576" y="4657954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894576" y="465795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60" name="Shape 158"/>
          <p:cNvSpPr/>
          <p:nvPr/>
        </p:nvSpPr>
        <p:spPr>
          <a:xfrm>
            <a:off x="7973568" y="4657954"/>
            <a:ext cx="1078992" cy="213970"/>
          </a:xfrm>
          <a:prstGeom prst="rect">
            <a:avLst/>
          </a:prstGeom>
          <a:solidFill>
            <a:srgbClr val="FEE2E2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7973568" y="465795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162" name="Shape 160"/>
          <p:cNvSpPr/>
          <p:nvPr/>
        </p:nvSpPr>
        <p:spPr>
          <a:xfrm>
            <a:off x="9052560" y="4657954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9052560" y="465795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64" name="Shape 162"/>
          <p:cNvSpPr/>
          <p:nvPr/>
        </p:nvSpPr>
        <p:spPr>
          <a:xfrm>
            <a:off x="10131552" y="4657954"/>
            <a:ext cx="1078992" cy="21397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0131552" y="4657954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166" name="Shape 164"/>
          <p:cNvSpPr/>
          <p:nvPr/>
        </p:nvSpPr>
        <p:spPr>
          <a:xfrm>
            <a:off x="521208" y="4871923"/>
            <a:ext cx="566928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521208" y="4871923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AI1</a:t>
            </a:r>
            <a:endParaRPr lang="en-US" sz="850" dirty="0"/>
          </a:p>
        </p:txBody>
      </p:sp>
      <p:sp>
        <p:nvSpPr>
          <p:cNvPr id="168" name="Shape 166"/>
          <p:cNvSpPr/>
          <p:nvPr/>
        </p:nvSpPr>
        <p:spPr>
          <a:xfrm>
            <a:off x="1088136" y="4871923"/>
            <a:ext cx="5806440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133856" y="4871923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&amp; Agentic Systems</a:t>
            </a:r>
            <a:endParaRPr lang="en-US" sz="950" dirty="0"/>
          </a:p>
        </p:txBody>
      </p:sp>
      <p:sp>
        <p:nvSpPr>
          <p:cNvPr id="170" name="Shape 168"/>
          <p:cNvSpPr/>
          <p:nvPr/>
        </p:nvSpPr>
        <p:spPr>
          <a:xfrm>
            <a:off x="6894576" y="4871923"/>
            <a:ext cx="1078992" cy="213970"/>
          </a:xfrm>
          <a:prstGeom prst="rect">
            <a:avLst/>
          </a:prstGeom>
          <a:solidFill>
            <a:srgbClr val="2563E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6894576" y="4871923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172" name="Shape 170"/>
          <p:cNvSpPr/>
          <p:nvPr/>
        </p:nvSpPr>
        <p:spPr>
          <a:xfrm>
            <a:off x="7973568" y="4871923"/>
            <a:ext cx="1078992" cy="213970"/>
          </a:xfrm>
          <a:prstGeom prst="rect">
            <a:avLst/>
          </a:prstGeom>
          <a:solidFill>
            <a:srgbClr val="DC262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7973568" y="4871923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174" name="Shape 172"/>
          <p:cNvSpPr/>
          <p:nvPr/>
        </p:nvSpPr>
        <p:spPr>
          <a:xfrm>
            <a:off x="9052560" y="4871923"/>
            <a:ext cx="1078992" cy="213970"/>
          </a:xfrm>
          <a:prstGeom prst="rect">
            <a:avLst/>
          </a:prstGeom>
          <a:solidFill>
            <a:srgbClr val="7C3A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9052560" y="4871923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176" name="Shape 174"/>
          <p:cNvSpPr/>
          <p:nvPr/>
        </p:nvSpPr>
        <p:spPr>
          <a:xfrm>
            <a:off x="10131552" y="4871923"/>
            <a:ext cx="1078992" cy="213970"/>
          </a:xfrm>
          <a:prstGeom prst="rect">
            <a:avLst/>
          </a:prstGeom>
          <a:solidFill>
            <a:srgbClr val="D9770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0131552" y="4871923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178" name="Shape 176"/>
          <p:cNvSpPr/>
          <p:nvPr/>
        </p:nvSpPr>
        <p:spPr>
          <a:xfrm>
            <a:off x="521208" y="5085893"/>
            <a:ext cx="566928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21208" y="5085893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AI2</a:t>
            </a:r>
            <a:endParaRPr lang="en-US" sz="850" dirty="0"/>
          </a:p>
        </p:txBody>
      </p:sp>
      <p:sp>
        <p:nvSpPr>
          <p:cNvPr id="180" name="Shape 178"/>
          <p:cNvSpPr/>
          <p:nvPr/>
        </p:nvSpPr>
        <p:spPr>
          <a:xfrm>
            <a:off x="1088136" y="5085893"/>
            <a:ext cx="5806440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1133856" y="5085893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AI: Time Series &amp; Decisions</a:t>
            </a:r>
            <a:endParaRPr lang="en-US" sz="950" dirty="0"/>
          </a:p>
        </p:txBody>
      </p:sp>
      <p:sp>
        <p:nvSpPr>
          <p:cNvPr id="182" name="Shape 180"/>
          <p:cNvSpPr/>
          <p:nvPr/>
        </p:nvSpPr>
        <p:spPr>
          <a:xfrm>
            <a:off x="6894576" y="5085893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6894576" y="5085893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84" name="Shape 182"/>
          <p:cNvSpPr/>
          <p:nvPr/>
        </p:nvSpPr>
        <p:spPr>
          <a:xfrm>
            <a:off x="7973568" y="5085893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7973568" y="5085893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86" name="Shape 184"/>
          <p:cNvSpPr/>
          <p:nvPr/>
        </p:nvSpPr>
        <p:spPr>
          <a:xfrm>
            <a:off x="9052560" y="5085893"/>
            <a:ext cx="1078992" cy="213970"/>
          </a:xfrm>
          <a:prstGeom prst="rect">
            <a:avLst/>
          </a:prstGeom>
          <a:solidFill>
            <a:srgbClr val="7C3A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9052560" y="5085893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188" name="Shape 186"/>
          <p:cNvSpPr/>
          <p:nvPr/>
        </p:nvSpPr>
        <p:spPr>
          <a:xfrm>
            <a:off x="10131552" y="5085893"/>
            <a:ext cx="1078992" cy="213970"/>
          </a:xfrm>
          <a:prstGeom prst="rect">
            <a:avLst/>
          </a:prstGeom>
          <a:solidFill>
            <a:srgbClr val="D97706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10131552" y="5085893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190" name="Shape 188"/>
          <p:cNvSpPr/>
          <p:nvPr/>
        </p:nvSpPr>
        <p:spPr>
          <a:xfrm>
            <a:off x="521208" y="5299862"/>
            <a:ext cx="566928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521208" y="5299862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AI3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1088136" y="5299862"/>
            <a:ext cx="5806440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1133856" y="5299862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AI: Deep Learning for Vision</a:t>
            </a:r>
            <a:endParaRPr lang="en-US" sz="950" dirty="0"/>
          </a:p>
        </p:txBody>
      </p:sp>
      <p:sp>
        <p:nvSpPr>
          <p:cNvPr id="194" name="Shape 192"/>
          <p:cNvSpPr/>
          <p:nvPr/>
        </p:nvSpPr>
        <p:spPr>
          <a:xfrm>
            <a:off x="6894576" y="5299862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6894576" y="529986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96" name="Shape 194"/>
          <p:cNvSpPr/>
          <p:nvPr/>
        </p:nvSpPr>
        <p:spPr>
          <a:xfrm>
            <a:off x="7973568" y="5299862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973568" y="529986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198" name="Shape 196"/>
          <p:cNvSpPr/>
          <p:nvPr/>
        </p:nvSpPr>
        <p:spPr>
          <a:xfrm>
            <a:off x="9052560" y="5299862"/>
            <a:ext cx="1078992" cy="213970"/>
          </a:xfrm>
          <a:prstGeom prst="rect">
            <a:avLst/>
          </a:prstGeom>
          <a:solidFill>
            <a:srgbClr val="7C3A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9052560" y="529986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200" name="Shape 198"/>
          <p:cNvSpPr/>
          <p:nvPr/>
        </p:nvSpPr>
        <p:spPr>
          <a:xfrm>
            <a:off x="10131552" y="5299862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10131552" y="529986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02" name="Shape 200"/>
          <p:cNvSpPr/>
          <p:nvPr/>
        </p:nvSpPr>
        <p:spPr>
          <a:xfrm>
            <a:off x="521208" y="5513832"/>
            <a:ext cx="566928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521208" y="5513832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AI4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1088136" y="5513832"/>
            <a:ext cx="5806440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1133856" y="5513832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AI: Big-Data Algorithms</a:t>
            </a:r>
            <a:endParaRPr lang="en-US" sz="950" dirty="0"/>
          </a:p>
        </p:txBody>
      </p:sp>
      <p:sp>
        <p:nvSpPr>
          <p:cNvPr id="206" name="Shape 204"/>
          <p:cNvSpPr/>
          <p:nvPr/>
        </p:nvSpPr>
        <p:spPr>
          <a:xfrm>
            <a:off x="6894576" y="5513832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6894576" y="551383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08" name="Shape 206"/>
          <p:cNvSpPr/>
          <p:nvPr/>
        </p:nvSpPr>
        <p:spPr>
          <a:xfrm>
            <a:off x="7973568" y="5513832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7973568" y="551383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10" name="Shape 208"/>
          <p:cNvSpPr/>
          <p:nvPr/>
        </p:nvSpPr>
        <p:spPr>
          <a:xfrm>
            <a:off x="9052560" y="5513832"/>
            <a:ext cx="1078992" cy="213970"/>
          </a:xfrm>
          <a:prstGeom prst="rect">
            <a:avLst/>
          </a:prstGeom>
          <a:solidFill>
            <a:srgbClr val="7C3AED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9052560" y="551383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</a:t>
            </a:r>
            <a:endParaRPr lang="en-US" sz="950" dirty="0"/>
          </a:p>
        </p:txBody>
      </p:sp>
      <p:sp>
        <p:nvSpPr>
          <p:cNvPr id="212" name="Shape 210"/>
          <p:cNvSpPr/>
          <p:nvPr/>
        </p:nvSpPr>
        <p:spPr>
          <a:xfrm>
            <a:off x="10131552" y="5513832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131552" y="551383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14" name="Shape 212"/>
          <p:cNvSpPr/>
          <p:nvPr/>
        </p:nvSpPr>
        <p:spPr>
          <a:xfrm>
            <a:off x="521208" y="5727802"/>
            <a:ext cx="566928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521208" y="5727802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AI5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1088136" y="5727802"/>
            <a:ext cx="5806440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1133856" y="5727802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AI: Deep Generative Models</a:t>
            </a:r>
            <a:endParaRPr lang="en-US" sz="950" dirty="0"/>
          </a:p>
        </p:txBody>
      </p:sp>
      <p:sp>
        <p:nvSpPr>
          <p:cNvPr id="218" name="Shape 216"/>
          <p:cNvSpPr/>
          <p:nvPr/>
        </p:nvSpPr>
        <p:spPr>
          <a:xfrm>
            <a:off x="6894576" y="5727802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9" name="Text 217"/>
          <p:cNvSpPr/>
          <p:nvPr/>
        </p:nvSpPr>
        <p:spPr>
          <a:xfrm>
            <a:off x="6894576" y="572780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20" name="Shape 218"/>
          <p:cNvSpPr/>
          <p:nvPr/>
        </p:nvSpPr>
        <p:spPr>
          <a:xfrm>
            <a:off x="7973568" y="5727802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7973568" y="572780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22" name="Shape 220"/>
          <p:cNvSpPr/>
          <p:nvPr/>
        </p:nvSpPr>
        <p:spPr>
          <a:xfrm>
            <a:off x="9052560" y="5727802"/>
            <a:ext cx="1078992" cy="213970"/>
          </a:xfrm>
          <a:prstGeom prst="rect">
            <a:avLst/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9052560" y="572780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224" name="Shape 222"/>
          <p:cNvSpPr/>
          <p:nvPr/>
        </p:nvSpPr>
        <p:spPr>
          <a:xfrm>
            <a:off x="10131552" y="5727802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10131552" y="5727802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26" name="Shape 224"/>
          <p:cNvSpPr/>
          <p:nvPr/>
        </p:nvSpPr>
        <p:spPr>
          <a:xfrm>
            <a:off x="521208" y="5941771"/>
            <a:ext cx="566928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521208" y="5941771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AI6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88136" y="5941771"/>
            <a:ext cx="5806440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9" name="Text 227"/>
          <p:cNvSpPr/>
          <p:nvPr/>
        </p:nvSpPr>
        <p:spPr>
          <a:xfrm>
            <a:off x="1133856" y="5941771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Embodied AI: Robotics &amp; Autonomous Systems</a:t>
            </a:r>
            <a:endParaRPr lang="en-US" sz="950" dirty="0"/>
          </a:p>
        </p:txBody>
      </p:sp>
      <p:sp>
        <p:nvSpPr>
          <p:cNvPr id="230" name="Shape 228"/>
          <p:cNvSpPr/>
          <p:nvPr/>
        </p:nvSpPr>
        <p:spPr>
          <a:xfrm>
            <a:off x="6894576" y="5941771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1" name="Text 229"/>
          <p:cNvSpPr/>
          <p:nvPr/>
        </p:nvSpPr>
        <p:spPr>
          <a:xfrm>
            <a:off x="6894576" y="5941771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32" name="Shape 230"/>
          <p:cNvSpPr/>
          <p:nvPr/>
        </p:nvSpPr>
        <p:spPr>
          <a:xfrm>
            <a:off x="7973568" y="5941771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3" name="Text 231"/>
          <p:cNvSpPr/>
          <p:nvPr/>
        </p:nvSpPr>
        <p:spPr>
          <a:xfrm>
            <a:off x="7973568" y="5941771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34" name="Shape 232"/>
          <p:cNvSpPr/>
          <p:nvPr/>
        </p:nvSpPr>
        <p:spPr>
          <a:xfrm>
            <a:off x="9052560" y="5941771"/>
            <a:ext cx="1078992" cy="213970"/>
          </a:xfrm>
          <a:prstGeom prst="rect">
            <a:avLst/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5" name="Text 233"/>
          <p:cNvSpPr/>
          <p:nvPr/>
        </p:nvSpPr>
        <p:spPr>
          <a:xfrm>
            <a:off x="9052560" y="5941771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236" name="Shape 234"/>
          <p:cNvSpPr/>
          <p:nvPr/>
        </p:nvSpPr>
        <p:spPr>
          <a:xfrm>
            <a:off x="10131552" y="5941771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10131552" y="5941771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38" name="Shape 236"/>
          <p:cNvSpPr/>
          <p:nvPr/>
        </p:nvSpPr>
        <p:spPr>
          <a:xfrm>
            <a:off x="521208" y="6155741"/>
            <a:ext cx="566928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521208" y="6155741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QCF1</a:t>
            </a:r>
            <a:endParaRPr lang="en-US" sz="850" dirty="0"/>
          </a:p>
        </p:txBody>
      </p:sp>
      <p:sp>
        <p:nvSpPr>
          <p:cNvPr id="240" name="Shape 238"/>
          <p:cNvSpPr/>
          <p:nvPr/>
        </p:nvSpPr>
        <p:spPr>
          <a:xfrm>
            <a:off x="1088136" y="6155741"/>
            <a:ext cx="5806440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1133856" y="6155741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Optimization</a:t>
            </a:r>
            <a:endParaRPr lang="en-US" sz="950" dirty="0"/>
          </a:p>
        </p:txBody>
      </p:sp>
      <p:sp>
        <p:nvSpPr>
          <p:cNvPr id="242" name="Shape 240"/>
          <p:cNvSpPr/>
          <p:nvPr/>
        </p:nvSpPr>
        <p:spPr>
          <a:xfrm>
            <a:off x="6894576" y="6155741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6894576" y="6155741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44" name="Shape 242"/>
          <p:cNvSpPr/>
          <p:nvPr/>
        </p:nvSpPr>
        <p:spPr>
          <a:xfrm>
            <a:off x="7973568" y="6155741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5" name="Text 243"/>
          <p:cNvSpPr/>
          <p:nvPr/>
        </p:nvSpPr>
        <p:spPr>
          <a:xfrm>
            <a:off x="7973568" y="6155741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46" name="Shape 244"/>
          <p:cNvSpPr/>
          <p:nvPr/>
        </p:nvSpPr>
        <p:spPr>
          <a:xfrm>
            <a:off x="9052560" y="6155741"/>
            <a:ext cx="1078992" cy="21397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7" name="Text 245"/>
          <p:cNvSpPr/>
          <p:nvPr/>
        </p:nvSpPr>
        <p:spPr>
          <a:xfrm>
            <a:off x="9052560" y="6155741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48" name="Shape 246"/>
          <p:cNvSpPr/>
          <p:nvPr/>
        </p:nvSpPr>
        <p:spPr>
          <a:xfrm>
            <a:off x="10131552" y="6155741"/>
            <a:ext cx="1078992" cy="21397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9" name="Text 247"/>
          <p:cNvSpPr/>
          <p:nvPr/>
        </p:nvSpPr>
        <p:spPr>
          <a:xfrm>
            <a:off x="10131552" y="6155741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  <p:sp>
        <p:nvSpPr>
          <p:cNvPr id="250" name="Shape 248"/>
          <p:cNvSpPr/>
          <p:nvPr/>
        </p:nvSpPr>
        <p:spPr>
          <a:xfrm>
            <a:off x="521208" y="6369710"/>
            <a:ext cx="566928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1" name="Text 249"/>
          <p:cNvSpPr/>
          <p:nvPr/>
        </p:nvSpPr>
        <p:spPr>
          <a:xfrm>
            <a:off x="521208" y="6369710"/>
            <a:ext cx="566928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QCF2</a:t>
            </a:r>
            <a:endParaRPr lang="en-US" sz="850" dirty="0"/>
          </a:p>
        </p:txBody>
      </p:sp>
      <p:sp>
        <p:nvSpPr>
          <p:cNvPr id="252" name="Shape 250"/>
          <p:cNvSpPr/>
          <p:nvPr/>
        </p:nvSpPr>
        <p:spPr>
          <a:xfrm>
            <a:off x="1088136" y="6369710"/>
            <a:ext cx="5806440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3" name="Text 251"/>
          <p:cNvSpPr/>
          <p:nvPr/>
        </p:nvSpPr>
        <p:spPr>
          <a:xfrm>
            <a:off x="1133856" y="6369710"/>
            <a:ext cx="5715000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Optimization for Finance</a:t>
            </a:r>
            <a:endParaRPr lang="en-US" sz="950" dirty="0"/>
          </a:p>
        </p:txBody>
      </p:sp>
      <p:sp>
        <p:nvSpPr>
          <p:cNvPr id="254" name="Shape 252"/>
          <p:cNvSpPr/>
          <p:nvPr/>
        </p:nvSpPr>
        <p:spPr>
          <a:xfrm>
            <a:off x="6894576" y="6369710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5" name="Text 253"/>
          <p:cNvSpPr/>
          <p:nvPr/>
        </p:nvSpPr>
        <p:spPr>
          <a:xfrm>
            <a:off x="6894576" y="6369710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56" name="Shape 254"/>
          <p:cNvSpPr/>
          <p:nvPr/>
        </p:nvSpPr>
        <p:spPr>
          <a:xfrm>
            <a:off x="7973568" y="6369710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7" name="Text 255"/>
          <p:cNvSpPr/>
          <p:nvPr/>
        </p:nvSpPr>
        <p:spPr>
          <a:xfrm>
            <a:off x="7973568" y="6369710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58" name="Shape 256"/>
          <p:cNvSpPr/>
          <p:nvPr/>
        </p:nvSpPr>
        <p:spPr>
          <a:xfrm>
            <a:off x="9052560" y="6369710"/>
            <a:ext cx="1078992" cy="21397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9" name="Text 257"/>
          <p:cNvSpPr/>
          <p:nvPr/>
        </p:nvSpPr>
        <p:spPr>
          <a:xfrm>
            <a:off x="9052560" y="6369710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</a:t>
            </a:r>
            <a:endParaRPr lang="en-US" sz="950" dirty="0"/>
          </a:p>
        </p:txBody>
      </p:sp>
      <p:sp>
        <p:nvSpPr>
          <p:cNvPr id="260" name="Shape 258"/>
          <p:cNvSpPr/>
          <p:nvPr/>
        </p:nvSpPr>
        <p:spPr>
          <a:xfrm>
            <a:off x="10131552" y="6369710"/>
            <a:ext cx="1078992" cy="21397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1" name="Text 259"/>
          <p:cNvSpPr/>
          <p:nvPr/>
        </p:nvSpPr>
        <p:spPr>
          <a:xfrm>
            <a:off x="10131552" y="6369710"/>
            <a:ext cx="1078992" cy="213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11696"/>
            <a:ext cx="3047924" cy="1463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3047924" y="6711696"/>
            <a:ext cx="3047924" cy="14630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Shape 2"/>
          <p:cNvSpPr/>
          <p:nvPr/>
        </p:nvSpPr>
        <p:spPr>
          <a:xfrm>
            <a:off x="6095848" y="6711696"/>
            <a:ext cx="3047924" cy="14630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3771" y="6711696"/>
            <a:ext cx="3047924" cy="146304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1488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 Your Path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822960" y="3246120"/>
            <a:ext cx="8961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rigorous foundation — four directions of depth. Your concentration shapes the projects you build, the courses you master, and the roles you step into after graduation.</a:t>
            </a:r>
            <a:endParaRPr lang="en-US" sz="1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6634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46177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Engineering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22960" y="512064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Full-Stack Software Developer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2" y="466344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050792" y="46177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Networking &amp; Cyber Security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3593592" y="512064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 Engineer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4663440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821424" y="46177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6364224" y="512064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/ AI Engineer</a:t>
            </a:r>
            <a:endParaRPr lang="en-US" sz="10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4856" y="466344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592056" y="4617720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Comp. Finance, Optimization &amp; Quantum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9134856" y="5120640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Software Engineer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Degree Concentrations</dc:title>
  <dc:subject>PptxGenJS Presentation</dc:subject>
  <dc:creator>CS Program Committee</dc:creator>
  <cp:lastModifiedBy>CS Program Committee</cp:lastModifiedBy>
  <cp:revision>1</cp:revision>
  <dcterms:created xsi:type="dcterms:W3CDTF">2026-06-21T11:03:42Z</dcterms:created>
  <dcterms:modified xsi:type="dcterms:W3CDTF">2026-06-21T11:03:42Z</dcterms:modified>
</cp:coreProperties>
</file>